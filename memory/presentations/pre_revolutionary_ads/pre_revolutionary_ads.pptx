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9A84C"/>
                </a:solidFill>
                <a:latin typeface="Times New Roman"/>
              </a:defRPr>
            </a:pPr>
            <a:r>
              <a:t>ИСТОРИЧЕСКАЯ ЛЕКЦИЯ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C547"/>
                </a:solidFill>
                <a:latin typeface="Times New Roman"/>
              </a:defRPr>
            </a:pPr>
            <a:r>
              <a:t>Витрины царской России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9A84C"/>
                </a:solidFill>
              </a:defRPr>
            </a:pPr>
            <a:r>
              <a:t>❦ ❦ 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0E6"/>
                </a:solidFill>
                <a:latin typeface="Times New Roman"/>
              </a:defRPr>
            </a:pPr>
            <a:r>
              <a:t>От вывески до рекламного агентства</a:t>
            </a:r>
            <a:br/>
            <a:r>
              <a:t>1850 — 1920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C9A84C"/>
                </a:solidFill>
              </a:defRPr>
            </a:pPr>
            <a:r>
              <a:t>На основе материалов reklama.school</a:t>
            </a:r>
            <a:br/>
            <a:r>
              <a:t>История российской рекламы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Контекст эпохи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Великие реформы Александра II запустили механизм модернизации Российской империи. Промышленный бум второй половины XIX века преобразил города.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К 1914 году Россия входила в пятерку ведущих экономик мира — после США, Великобритании, Франции и Германии.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400" i="1">
                <a:solidFill>
                  <a:srgbClr val="5C4033"/>
                </a:solidFill>
                <a:latin typeface="Times New Roman"/>
              </a:defRPr>
            </a:pPr>
            <a:r>
              <a:t>Реклама как социальная и маркетинговая коммуникация появлялась там и тогда, где возникала конкуренция между производителями товаров и услуг.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Города наполнялись лавками, магазинами, мастерскими, трактирами, кондитерскими — точками розничной торговли, которым нужна была реклама.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42097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303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B6F47"/>
                </a:solidFill>
              </a:defRPr>
            </a:pPr>
            <a:r>
              <a:t>Москва, Тверская улица. 1896 год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9A84C"/>
                </a:solidFill>
                <a:latin typeface="Times New Roman"/>
              </a:defRPr>
            </a:pPr>
            <a:r>
              <a:t>Раздел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C547"/>
                </a:solidFill>
                <a:latin typeface="Times New Roman"/>
              </a:defRPr>
            </a:pPr>
            <a:r>
              <a:t>Вывески и товарные знаки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9A84C"/>
                </a:solidFill>
              </a:defRPr>
            </a:pPr>
            <a:r>
              <a:t>— ❦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5F0E6"/>
                </a:solidFill>
                <a:latin typeface="Times New Roman"/>
              </a:defRPr>
            </a:pPr>
            <a:r>
              <a:t>Старейший вид рекламы в России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Вывески как искусство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В России, как и в других странах, одним из старейших видов рекламы были вывески. Промышленный бум сопровождался открытием торговых точек.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Каждое заведение нуждалось в вывеске — знаке, привлекающем внимание и рассказывающем о товаре.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Деревянные резные вывески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Металлические кованые знаки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Стеклянные витрины с позолотой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Роспись фасадов зданий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51944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303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B6F47"/>
                </a:solidFill>
              </a:defRPr>
            </a:pPr>
            <a:r>
              <a:t>Типичная вывеска торговой лавки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Товарные знаки и клейма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Качество и происхождение товара подтверждались клеймами и знаками. Фабричные изделия имели специальные марки.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400" i="1">
                <a:solidFill>
                  <a:srgbClr val="5C4033"/>
                </a:solidFill>
                <a:latin typeface="Times New Roman"/>
              </a:defRPr>
            </a:pPr>
            <a:r>
              <a:t>Товарные знаки становились предшественниками современных брендов. Покупатель узнавал продукцию по знаку — и доверял ему.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Клейма ставились на металлических изделиях (самовары, утюги), тканях, фарфоре, ювелирных украшениях.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44067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303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B6F47"/>
                </a:solidFill>
              </a:defRPr>
            </a:pPr>
            <a:r>
              <a:t>Пример товарного клейма периода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9A84C"/>
                </a:solidFill>
                <a:latin typeface="Times New Roman"/>
              </a:defRPr>
            </a:pPr>
            <a:r>
              <a:t>Раздел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C547"/>
                </a:solidFill>
                <a:latin typeface="Times New Roman"/>
              </a:defRPr>
            </a:pPr>
            <a:r>
              <a:t>Реклама в прессе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9A84C"/>
                </a:solidFill>
              </a:defRPr>
            </a:pPr>
            <a:r>
              <a:t>— ❦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5F0E6"/>
                </a:solidFill>
                <a:latin typeface="Times New Roman"/>
              </a:defRPr>
            </a:pPr>
            <a:r>
              <a:t>Газеты и журналы как рекламные носители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Рост грамотности = рост рекламы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Великие реформы способствовали росту грамотности. Появились новые группы читателей: ремесленники, торговцы, мещане, студенты, чиновники.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Ремесленники и торговцы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Мещане и купцы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Студенты и интеллигенция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Чиновники и дворяне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Газеты и журналы стали основной площадкой для размещения рекламы товаров и услуг.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303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B6F47"/>
                </a:solidFill>
              </a:defRPr>
            </a:pPr>
            <a:r>
              <a:t>Рекламные объявления в периодической печати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Рекламные объявления в печати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Объявления в прессе были преимущественно текстовыми, без иллюстраций. Но они достигали широчайшей аудитории.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Газеты публиковали рекламу лекарственных средств, косметики, одежды, мебели, недвижимости, услуг.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400" i="1">
                <a:solidFill>
                  <a:srgbClr val="5C4033"/>
                </a:solidFill>
                <a:latin typeface="Times New Roman"/>
              </a:defRPr>
            </a:pPr>
            <a:r>
              <a:t>Каждое объявление — попытка выделиться среди десятков других на полосе газеты.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49483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303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B6F47"/>
                </a:solidFill>
              </a:defRPr>
            </a:pPr>
            <a:r>
              <a:t>Типичная страница с объявлениями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9A84C"/>
                </a:solidFill>
                <a:latin typeface="Times New Roman"/>
              </a:defRPr>
            </a:pPr>
            <a:r>
              <a:t>Раздел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C547"/>
                </a:solidFill>
                <a:latin typeface="Times New Roman"/>
              </a:defRPr>
            </a:pPr>
            <a:r>
              <a:t>Афиши и рекламные плакаты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9A84C"/>
                </a:solidFill>
              </a:defRPr>
            </a:pPr>
            <a:r>
              <a:t>— ❦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5F0E6"/>
                </a:solidFill>
                <a:latin typeface="Times New Roman"/>
              </a:defRPr>
            </a:pPr>
            <a:r>
              <a:t>Рождение плакатного искусства в России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От афиши к плакату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В конце XIX века в России появилось понятие «художественная афиша». В начале XX века оно трансформировалось в термин «плакат».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400" i="1">
                <a:solidFill>
                  <a:srgbClr val="5C4033"/>
                </a:solidFill>
                <a:latin typeface="Times New Roman"/>
              </a:defRPr>
            </a:pPr>
            <a:r>
              <a:t>Становление отечественного плаката совпало с утверждением в России стиля модерн, эстетические принципы которого — обращение к массовому зрителю — отвечали самой природе плакатного искусства.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Плакат стал новым видом рекламы, призванным стимулировать продажи товаров и услуг.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2166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303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B6F47"/>
                </a:solidFill>
              </a:defRPr>
            </a:pPr>
            <a:r>
              <a:t>Ранняя художественная афиша в стиле модерн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Художественная афиша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Яркие красочные плакаты оказались востребованы фабрикантами, предпринимателями и торговцами.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Художники модерна создавали шедевры, которые украшали улицы городов: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Москва — Тверская, Кузнецкий Мост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Санкт-Петербург — Невский проспект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Киев, Одесса, Харьков, Варшава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400" i="1">
                <a:solidFill>
                  <a:srgbClr val="5C4033"/>
                </a:solidFill>
                <a:latin typeface="Times New Roman"/>
              </a:defRPr>
            </a:pPr>
            <a:r>
              <a:t>Плакатное искусство объединяло коммерческую задачу и высокую эстетику.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29788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303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B6F47"/>
                </a:solidFill>
              </a:defRPr>
            </a:pPr>
            <a:r>
              <a:t>Торговый плакат конца XIX века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9A84C"/>
                </a:solidFill>
                <a:latin typeface="Times New Roman"/>
              </a:defRPr>
            </a:pPr>
            <a:r>
              <a:t>Раздел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C547"/>
                </a:solidFill>
                <a:latin typeface="Times New Roman"/>
              </a:defRPr>
            </a:pPr>
            <a:r>
              <a:t>Что «продавали» плакаты?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9A84C"/>
                </a:solidFill>
              </a:defRPr>
            </a:pPr>
            <a:r>
              <a:t>— ❦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5F0E6"/>
                </a:solidFill>
                <a:latin typeface="Times New Roman"/>
              </a:defRPr>
            </a:pPr>
            <a:r>
              <a:t>Товары и услуги дореволюционной эпохи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Ассортимент рекламы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Плакаты рекламировали всё — от мыла и парфюмерии до швейных машинок и велосипедов.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Популярные категории: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Лекарственные средства — «пилюли от всех болезней»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Парфюмерия и косметика — одеколоны, помады, пудры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Продукты питания — чай, шоколад, спички, пиво, водка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Техника — швейные машинки, велосипеды, фонари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Ткани и одежда — ситец, бархат, меха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Услуги — театры, цирки, магазины, рестораны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Театральные афиши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Особое место занимали театральные афиши — Большой театр, Малый, частные театры.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Афиша должна была: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Привлечь зрителя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Рассказать о спектакле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Создать настроение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Передать жанр и стиль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400" i="1">
                <a:solidFill>
                  <a:srgbClr val="5C4033"/>
                </a:solidFill>
                <a:latin typeface="Times New Roman"/>
              </a:defRPr>
            </a:pPr>
            <a:r>
              <a:t>Художники афиш стали настоящими звездами — их имена привлекали публику не меньше, чем названия спектаклей.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51944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303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B6F47"/>
                </a:solidFill>
              </a:defRPr>
            </a:pPr>
            <a:r>
              <a:t>Театральная афиша начала XX века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9A84C"/>
                </a:solidFill>
                <a:latin typeface="Times New Roman"/>
              </a:defRPr>
            </a:pPr>
            <a:r>
              <a:t>Раздел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C547"/>
                </a:solidFill>
                <a:latin typeface="Times New Roman"/>
              </a:defRPr>
            </a:pPr>
            <a:r>
              <a:t>Конторы объявлений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9A84C"/>
                </a:solidFill>
              </a:defRPr>
            </a:pPr>
            <a:r>
              <a:t>— ❦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5F0E6"/>
                </a:solidFill>
                <a:latin typeface="Times New Roman"/>
              </a:defRPr>
            </a:pPr>
            <a:r>
              <a:t>Первые рекламные агентства России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Рождение агентств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Конторы объявлений — прототипы современных рекламных агентств.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Они не только размещали рекламу, но и создавали её: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Креатив — придумывали идею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Копирайт — составляли текст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Дизайн — разрабатывали иллюстрации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Верстка — готовили макет к печати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Медиапланирование — выбирали площадки</a:t>
            </a:r>
          </a:p>
          <a:p>
            <a:pPr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✦ Размещение — договаривались с изданиями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44067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303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B6F47"/>
                </a:solidFill>
              </a:defRPr>
            </a:pPr>
            <a:r>
              <a:t>Объявление конторы рекламных услуг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«Центральная контора Метцль и К°»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Контора объявлений Метцелей стала первым в стране рекламным агентством полного цикла.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400" i="1">
                <a:solidFill>
                  <a:srgbClr val="5C4033"/>
                </a:solidFill>
                <a:latin typeface="Times New Roman"/>
              </a:defRPr>
            </a:pPr>
            <a:r>
              <a:t>Эксклюзивное право на рекламу по почте, первые скоординированные рекламные кампании, раздача листовок на Невском проспекте.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Услуги конторы: составление и печать объявлений, размещение в газетах, почтовые рассылки, распространение листовок, разработка фирменного стиля.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303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B6F47"/>
                </a:solidFill>
              </a:defRPr>
            </a:pPr>
            <a:r>
              <a:t>Рекламные материалы конторы Метцль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9A84C"/>
                </a:solidFill>
                <a:latin typeface="Times New Roman"/>
              </a:defRPr>
            </a:pPr>
            <a:r>
              <a:t>Кейсы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C547"/>
                </a:solidFill>
                <a:latin typeface="Times New Roman"/>
              </a:defRPr>
            </a:pPr>
            <a:r>
              <a:t>Лубок, Зингер, Метцель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9A84C"/>
                </a:solidFill>
              </a:defRPr>
            </a:pPr>
            <a:r>
              <a:t>— ❦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5F0E6"/>
                </a:solidFill>
                <a:latin typeface="Times New Roman"/>
              </a:defRPr>
            </a:pPr>
            <a:r>
              <a:t>Три истории успеха дореволюционной рекламы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Лубок и лубочная реклама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Лубок — народная картинка с краткой подписью. Простота сюжета, яркие краски, узнаваемый стиль.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Традиционные лубки изготавливались ксилографией, гравюрой на меди, литографией.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В конце XIX века популярные лубочные картинки стали выпускать типографии крупными тиражами.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400" i="1">
                <a:solidFill>
                  <a:srgbClr val="5C4033"/>
                </a:solidFill>
                <a:latin typeface="Times New Roman"/>
              </a:defRPr>
            </a:pPr>
            <a:r>
              <a:t>Лубочная реклама достигала самых широких слоев населения — от крестьян до городского люда.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49483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303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B6F47"/>
                </a:solidFill>
              </a:defRPr>
            </a:pPr>
            <a:r>
              <a:t>Лубок как рекламный носитель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«Зингер» — американская марка в России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Компания Зингер в конце XIX века вывела на российский рынок швейные машинки.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Рекламная кампания опиралась на «малые формы рекламы»: этикетки, ярлыки, прейскуранты, открытки, визитки.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В 1904 году открыт завод в Подольске Московской губернии.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400" i="1">
                <a:solidFill>
                  <a:srgbClr val="5C4033"/>
                </a:solidFill>
                <a:latin typeface="Times New Roman"/>
              </a:defRPr>
            </a:pPr>
            <a:r>
              <a:t>Фирменный стиль узнавали мгновенно — красный цвет, золотые буквы, изображение птицы.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00400" cy="2166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303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B6F47"/>
                </a:solidFill>
              </a:defRPr>
            </a:pPr>
            <a:r>
              <a:t>Рекламные материалы фирмы «Зингер»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F14"/>
                </a:solidFill>
                <a:latin typeface="Times New Roman"/>
              </a:defRPr>
            </a:pPr>
            <a:r>
              <a:t>Выводы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К 1914 году в России сформировалась развитая рекламная индустрия с тремя звеньями: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1. Рекламодатели — заказчики (фабриканты, торговцы, предприниматели)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2. Рекламные агентства — «конторы объявлений» (креатив, дизайн, размещение)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3. Рекламные носители — средства размещения</a:t>
            </a:r>
          </a:p>
          <a:p>
            <a:pPr>
              <a:spcAft>
                <a:spcPts val="800"/>
              </a:spcAft>
              <a:defRPr sz="1600">
                <a:solidFill>
                  <a:srgbClr val="5C4033"/>
                </a:solidFill>
                <a:latin typeface="Times New Roman"/>
              </a:defRPr>
            </a:pPr>
            <a:r>
              <a:t>Востребованные виды: пресса, плакаты и афиши, вывески, наружная реклама, транзитная реклама, полиграфия.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400" i="1">
                <a:solidFill>
                  <a:srgbClr val="5C4033"/>
                </a:solidFill>
                <a:latin typeface="Times New Roman"/>
              </a:defRPr>
            </a:pPr>
            <a:r>
              <a:t>Российская империя накануне Первой мировой войны представляла собой индустриально-аграрное государство, по основным экономическим показателям входившее в число пяти ведущих экономик мира.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C9A84C"/>
                </a:solidFill>
              </a:defRPr>
            </a:pPr>
            <a:r>
              <a:t>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8C547"/>
                </a:solidFill>
                <a:latin typeface="Times New Roman"/>
              </a:defRPr>
            </a:pPr>
            <a:r>
              <a:t>Витрины царской России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5F0E6"/>
                </a:solidFill>
                <a:latin typeface="Times New Roman"/>
              </a:defRPr>
            </a:pPr>
            <a:r>
              <a:t>От вывески до рекламного агентства</a:t>
            </a:r>
            <a:br/>
            <a:r>
              <a:t>1850 — 1920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9A84C"/>
                </a:solidFill>
              </a:defRPr>
            </a:pPr>
            <a:r>
              <a:t>— ❦ ❦ ❦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C9A84C"/>
                </a:solidFill>
              </a:defRPr>
            </a:pPr>
            <a:r>
              <a:t>Источник: reklama.school — История российской рекламы</a:t>
            </a:r>
            <a:br/>
            <a:r>
              <a:t>Автор: С.М. Исаев, к.э.н., доцент РАНХиГС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