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5"/>
    <p:sldId id="272" r:id="rId4"/>
    <p:sldId id="273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18.xml"/><Relationship Id="rId4" Type="http://schemas.openxmlformats.org/officeDocument/2006/relationships/slide" Target="slides/slide17.xml"/><Relationship Id="rId5" Type="http://schemas.openxmlformats.org/officeDocument/2006/relationships/slide" Target="slides/slide1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Введение в ИИ для строительных специальностей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От понимания возможностей до первых шагов</a:t>
            </a:r>
            <a:br/>
            <a:r>
              <a:t>Модуль «Строительство» | Урок 1 из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Путь, который мы пройдём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СЕГОДНЯ (уровень 0): Базовые понятия ИИ, on-premise vs внешний, первые шаги</a:t>
            </a:r>
            <a:br/>
            <a:r>
              <a:t>• УРОВЕНЬ 1: Персональные промпты для вашей роли, загрузка файлов</a:t>
            </a:r>
            <a:br/>
            <a:r>
              <a:t>• УРОВЕНЬ 2: ИИ с файлами — чертежи, фото, PDF, интеграции</a:t>
            </a:r>
            <a:br/>
            <a:r>
              <a:t>• УРОВЕНЬ 3: ИИ-АГЕНТЫ — автономные помощники</a:t>
            </a:r>
            <a:br/>
            <a:r>
              <a:t>• </a:t>
            </a:r>
            <a:br/>
            <a:r>
              <a:t>• ИИ — не замена специалисту, а УСКОРИТЕЛЬ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A2E"/>
                </a:solidFill>
                <a:latin typeface="Arial"/>
              </a:defRPr>
            </a:pPr>
            <a:r>
              <a:t>Какую работу можно ускорить с ИИ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54864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Роль</a:t>
                      </a:r>
                    </a:p>
                  </a:txBody>
                  <a:tcPr>
                    <a:solidFill>
                      <a:srgbClr val="E85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Было (ручное)</a:t>
                      </a:r>
                    </a:p>
                  </a:txBody>
                  <a:tcPr>
                    <a:solidFill>
                      <a:srgbClr val="E85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Стало (с ИИ)</a:t>
                      </a:r>
                    </a:p>
                  </a:txBody>
                  <a:tcPr>
                    <a:solidFill>
                      <a:srgbClr val="E85A2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Экономия</a:t>
                      </a:r>
                    </a:p>
                  </a:txBody>
                  <a:tcPr>
                    <a:solidFill>
                      <a:srgbClr val="E85A2E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Сметчик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Искать расценки в ФЕР, считать в Excel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Описал работы → получил смету за 2 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4-6 часов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Проектант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Листать СНиП, писать пояснения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чертёж → проверка + описание за 5 мин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2-3 дня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ПТО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Сверять акты с сметой вручную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акт и смету → таблица расхождений за 3 мин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3-4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Организатор работ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Строить график в MS Project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Ввёл этапы → Гантт + ресурсы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1-2 дня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Приёмщик док-ции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Проверять комплектность по спискам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перечень → чек-лист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2-3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Закупщик услуг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Сравнивать КП вручную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3 КП → конкурентный лист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1-2 дня</a:t>
                      </a:r>
                    </a:p>
                  </a:txBody>
                  <a:tcPr>
                    <a:solidFill>
                      <a:srgbClr val="F5F1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Технадзор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Фотографировать, писать предписания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Загрузил фото → замечания + предписание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333333"/>
                          </a:solidFill>
                        </a:defRPr>
                      </a:pPr>
                      <a:r>
                        <a:t>2-3 часа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Сметчик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Экономия: 4-6 часов на смету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БЫЛО: 4-6 часов на одну смету</a:t>
            </a:r>
            <a:br/>
            <a:r>
              <a:t>•   • Искать расценки в ФЕР вручную</a:t>
            </a:r>
            <a:br/>
            <a:r>
              <a:t>•   • Считать в Excel</a:t>
            </a:r>
            <a:br/>
            <a:r>
              <a:t>•   • Проверять формулы</a:t>
            </a:r>
            <a:br/>
            <a:r>
              <a:t>• </a:t>
            </a:r>
            <a:br/>
            <a:r>
              <a:t>• СТАЛО: 2 минуты + 10 минут проверки</a:t>
            </a:r>
            <a:br/>
            <a:r>
              <a:t>•   • Описал работы ИИ</a:t>
            </a:r>
            <a:br/>
            <a:r>
              <a:t>•   • Получил смету с кодами ФЕР</a:t>
            </a:r>
            <a:br/>
            <a:r>
              <a:t>•   • Проверил и подписал</a:t>
            </a:r>
            <a:br/>
            <a:r>
              <a:t>• </a:t>
            </a:r>
            <a:br/>
            <a:r>
              <a:t>• ИИ считает. Сметчик решает и контролирует.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Технадзор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Экономия: 2-3 часа на проверку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БЫЛО: 2-3 часа на проверку объекта</a:t>
            </a:r>
            <a:br/>
            <a:r>
              <a:t>•   • Фотографировать каждый узел</a:t>
            </a:r>
            <a:br/>
            <a:r>
              <a:t>•   • Сверять с проектом вручную</a:t>
            </a:r>
            <a:br/>
            <a:r>
              <a:t>•   • Писать предписания</a:t>
            </a:r>
            <a:br/>
            <a:r>
              <a:t>• </a:t>
            </a:r>
            <a:br/>
            <a:r>
              <a:t>• СТАЛО: 5 минут + 15 минут на объекте</a:t>
            </a:r>
            <a:br/>
            <a:r>
              <a:t>•   • Загрузил фото в ИИ</a:t>
            </a:r>
            <a:br/>
            <a:r>
              <a:t>•   • Получил список замечаний</a:t>
            </a:r>
            <a:br/>
            <a:r>
              <a:t>•   • Получил готовое предписание</a:t>
            </a:r>
            <a:br/>
            <a:r>
              <a:t>• </a:t>
            </a:r>
            <a:br/>
            <a:r>
              <a:t>• ИИ видит. Технадзор оценивает и требует.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Пример: Приёмщик работ (ПТО)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66666"/>
                </a:solidFill>
                <a:latin typeface="Arial"/>
              </a:defRPr>
            </a:pPr>
            <a:r>
              <a:t>Экономия: 3-4 часа на акт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БЫЛО: 3-4 часа на один акт КС-2</a:t>
            </a:r>
            <a:br/>
            <a:r>
              <a:t>•   • Сверять позиции с сметой</a:t>
            </a:r>
            <a:br/>
            <a:r>
              <a:t>•   • Проверять объёмы</a:t>
            </a:r>
            <a:br/>
            <a:r>
              <a:t>•   • Искать расхождения</a:t>
            </a:r>
            <a:br/>
            <a:r>
              <a:t>• </a:t>
            </a:r>
            <a:br/>
            <a:r>
              <a:t>• СТАЛО: 3 минуты + 10 минут проверки</a:t>
            </a:r>
            <a:br/>
            <a:r>
              <a:t>•   • Загрузил акт и смету</a:t>
            </a:r>
            <a:br/>
            <a:r>
              <a:t>•   • Получил таблицу расхождений</a:t>
            </a:r>
            <a:br/>
            <a:r>
              <a:t>•   • Принял решение</a:t>
            </a:r>
            <a:br/>
            <a:r>
              <a:t>• </a:t>
            </a:r>
            <a:br/>
            <a:r>
              <a:t>• ИИ сверяет. ПТО решает: принять или вернуть.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ИИ вокруг нас каждый день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Вы УЖЕ используете ИИ, просто не называете это ИИ:</a:t>
            </a:r>
            <a:br/>
            <a:r>
              <a:t>• </a:t>
            </a:r>
            <a:br/>
            <a:r>
              <a:t>• • Яндекс/Apple Карты → строят маршрут с учётом пробок</a:t>
            </a:r>
            <a:br/>
            <a:r>
              <a:t>•   = как ИИ строит график работ с учётом рисков</a:t>
            </a:r>
            <a:br/>
            <a:r>
              <a:t>• </a:t>
            </a:r>
            <a:br/>
            <a:r>
              <a:t>• • Автокоррекция в телефоне → предсказывает слово</a:t>
            </a:r>
            <a:br/>
            <a:r>
              <a:t>•   = как ИИ предлагает продолжение сметы</a:t>
            </a:r>
            <a:br/>
            <a:r>
              <a:t>• </a:t>
            </a:r>
            <a:br/>
            <a:r>
              <a:t>• • Камера в телефоне → распознаёт лица</a:t>
            </a:r>
            <a:br/>
            <a:r>
              <a:t>•   = как ИИ распознаёт дефекты на фото объекта</a:t>
            </a:r>
            <a:br/>
            <a:r>
              <a:t>• </a:t>
            </a:r>
            <a:br/>
            <a:r>
              <a:t>• • Переводчик Google → переводит целиком, не по словам</a:t>
            </a:r>
            <a:br/>
            <a:r>
              <a:t>•   = как ИИ переписывает технический текст</a:t>
            </a:r>
            <a:br/>
            <a:r>
              <a:t>• </a:t>
            </a:r>
            <a:br/>
            <a:r>
              <a:t>• Если пользуетесь смартфоном — разберётесь с ИИ в работе.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E85A2E"/>
                </a:solidFill>
                <a:latin typeface="Arial"/>
              </a:defRPr>
            </a:pPr>
            <a:r>
              <a:t>Внутренний (on-premise) vs Внешний 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Arial"/>
              </a:defRPr>
            </a:pPr>
            <a:r>
              <a:t>ВНЕШНИЙ ИИ (ChatGPT, Claude)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• ✅ Удобный, доступен с телефона</a:t>
            </a:r>
            <a:br/>
            <a:r>
              <a:t>• ❌ Данные уходят на серверы за рубеж</a:t>
            </a:r>
            <a:br/>
            <a:r>
              <a:t>• ❌ Компания не контролирует документы</a:t>
            </a:r>
            <a:br/>
            <a:r>
              <a:t>• ❌ Платный, зависимость от поставщика</a:t>
            </a:r>
            <a:br/>
            <a:r>
              <a:t>• </a:t>
            </a:r>
            <a:br/>
            <a:r>
              <a:t>• Для личного использования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33333"/>
                </a:solidFill>
                <a:latin typeface="Arial"/>
              </a:defRPr>
            </a:pPr>
            <a:r>
              <a:t>ВНУТРЕННИЙ ИИ (OpenWebUI)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64592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Arial"/>
              </a:defRPr>
            </a:pPr>
            <a:r>
              <a:t>• ✅ Данные не покидают компанию</a:t>
            </a:r>
            <a:br/>
            <a:r>
              <a:t>• ✅ Закрытый контур</a:t>
            </a:r>
            <a:br/>
            <a:r>
              <a:t>• ✅ Внутренние регламенты и шаблоны</a:t>
            </a:r>
            <a:br/>
            <a:r>
              <a:t>• ✅ Бесплатно после настройки</a:t>
            </a:r>
            <a:br/>
            <a:r>
              <a:t>• </a:t>
            </a:r>
            <a:br/>
            <a:r>
              <a:t>• Для смет, проектов, актов, договоров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OpenWebUI — ваш внутренний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Браузер → ai.company.local → Логин/пароль (как в корп.системе)</a:t>
            </a:r>
            <a:br/>
            <a:r>
              <a:t>• </a:t>
            </a:r>
            <a:br/>
            <a:r>
              <a:t>• Главные элементы:</a:t>
            </a:r>
            <a:br/>
            <a:r>
              <a:t>• • Новый чат — начать разговор</a:t>
            </a:r>
            <a:br/>
            <a:r>
              <a:t>• • История — вернуться к старым (как письма)</a:t>
            </a:r>
            <a:br/>
            <a:r>
              <a:t>• • Скрепка 📎 — загрузить файл (смету, чертёж, фото)</a:t>
            </a:r>
            <a:br/>
            <a:r>
              <a:t>• • Выбор модели — Llama/Mistral для текста, Qwen для зрения</a:t>
            </a:r>
            <a:br/>
            <a:r>
              <a:t>• • Настройки ⚙️ — System Prompt (правила для всех ответов)</a:t>
            </a:r>
            <a:br/>
            <a:r>
              <a:t>• </a:t>
            </a:r>
            <a:br/>
            <a:r>
              <a:t>• Это как корпоративная почта — только для сотрудников.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Формула РКЗФО — как говорить с ИИ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❌ 'Напиши смету' → общий ответ</a:t>
            </a:r>
            <a:br/>
            <a:r>
              <a:t>• </a:t>
            </a:r>
            <a:br/>
            <a:r>
              <a:t>• ✅ РОЛЬ + КОНТЕКСТ + ЗАДАЧА + ФОРМАТ + ОГРАНИЧЕНИЯ</a:t>
            </a:r>
            <a:br/>
            <a:r>
              <a:t>• </a:t>
            </a:r>
            <a:br/>
            <a:r>
              <a:t>• РОЛЬ: 'Ты — главный сметчик с 10-летним стажем'</a:t>
            </a:r>
            <a:br/>
            <a:r>
              <a:t>• КОНТЕКСТ: 'Жилой дом, монолитный каркас, Москва'</a:t>
            </a:r>
            <a:br/>
            <a:r>
              <a:t>• ЗАДАЧА: 'Составить смету на плиту перекрытия 200 м²'</a:t>
            </a:r>
            <a:br/>
            <a:r>
              <a:t>• ФОРМАТ: 'Таблица с кодами ФЕР, ценами, итогом'</a:t>
            </a:r>
            <a:br/>
            <a:r>
              <a:t>• ОГРАНИЧЕНИЯ: 'ФЕР-2020, без НДС'</a:t>
            </a:r>
            <a:br/>
            <a:r>
              <a:t>• </a:t>
            </a:r>
            <a:br/>
            <a:r>
              <a:t>• → Точный ответ, готовый к использованию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Prompt — настройка ассистента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Куда: Настройки ⚙️ → System Prompt</a:t>
            </a:r>
            <a:br/>
            <a:r>
              <a:t>• </a:t>
            </a:r>
            <a:br/>
            <a:r>
              <a:t>• Пример для строителя:</a:t>
            </a:r>
            <a:br/>
            <a:r>
              <a:t>• </a:t>
            </a:r>
            <a:br/>
            <a:r>
              <a:t>• 'Ты — ассистент для строительных специалистов.'</a:t>
            </a:r>
            <a:br/>
            <a:r>
              <a:t>• 'Всегда используй таблицы для расчётов.'</a:t>
            </a:r>
            <a:br/>
            <a:r>
              <a:t>• 'Структура: анализ → таблица → риски → рекомендация.'</a:t>
            </a:r>
            <a:br/>
            <a:r>
              <a:t>• 'Работай по ФЕР-2020 и актуальным СНиП.'</a:t>
            </a:r>
            <a:br/>
            <a:r>
              <a:t>• 'Если данных мало — укажи, что уточнить.'</a:t>
            </a:r>
            <a:br/>
            <a:r>
              <a:t>• </a:t>
            </a:r>
            <a:br/>
            <a:r>
              <a:t>• → Каждый ответ будет структурированным и по делу.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Eval — как ИИ проверяет сам себя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Зачем: ИИ может ошибаться, упускать, обобщать</a:t>
            </a:r>
            <a:br/>
            <a:r>
              <a:t>• </a:t>
            </a:r>
            <a:br/>
            <a:r>
              <a:t>• 4 вопроса в конце важных задач:</a:t>
            </a:r>
            <a:br/>
            <a:r>
              <a:t>• </a:t>
            </a:r>
            <a:br/>
            <a:r>
              <a:t>• 1. 'Оцени ответ 1–10' → выявляет галлюцинации</a:t>
            </a:r>
            <a:br/>
            <a:r>
              <a:t>• 2. 'Что ты не учёл?' → находит слепые пятна</a:t>
            </a:r>
            <a:br/>
            <a:r>
              <a:t>• 3. 'Найди 3 слабых места' → проверяет неточности</a:t>
            </a:r>
            <a:br/>
            <a:r>
              <a:t>• 4. 'Предложи другой подход' → даёт альтернативы</a:t>
            </a:r>
            <a:br/>
            <a:r>
              <a:t>• </a:t>
            </a:r>
            <a:br/>
            <a:r>
              <a:t>• Пример: 'Оцени свою смету 1–10. Что ты мог упустить?'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1: Смета за 5 минут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РОЛЬ: Ты — сметчик.</a:t>
            </a:r>
            <a:br/>
            <a:r>
              <a:t>• ЗАДАЧА: Составь смету на штукатурку стен 150 м²,</a:t>
            </a:r>
            <a:br/>
            <a:r>
              <a:t>•         толщина 20 мм, гипсовая штукатурка.</a:t>
            </a:r>
            <a:br/>
            <a:r>
              <a:t>• ФОРМАТ: Таблица (№, код ФЕР, наименование, ед.изм, количество, цена, итого).</a:t>
            </a:r>
            <a:br/>
            <a:r>
              <a:t>• </a:t>
            </a:r>
            <a:br/>
            <a:r>
              <a:t>• Проверьте: есть ли код ФЕР? правильная ли единица? итог посчитан?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2: Фото с объекта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[Загрузить фото через скрепку 📎]</a:t>
            </a:r>
            <a:br/>
            <a:r>
              <a:t>• </a:t>
            </a:r>
            <a:br/>
            <a:r>
              <a:t>• РОЛЬ: Ты — технадзор.</a:t>
            </a:r>
            <a:br/>
            <a:r>
              <a:t>• ЗАДАЧА: Опиши, что видишь на фото.</a:t>
            </a:r>
            <a:br/>
            <a:r>
              <a:t>•         Найди отклонения от СНиП.</a:t>
            </a:r>
            <a:br/>
            <a:r>
              <a:t>•         Оцени серьёзность.</a:t>
            </a:r>
            <a:br/>
            <a:r>
              <a:t>• </a:t>
            </a:r>
            <a:br/>
            <a:r>
              <a:t>• Проверьте: нашёл ли дефекты? правильно ли оценил серьёзность?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Практика 3: Сверка акта с сметой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ЗАДАНИЕ:</a:t>
            </a:r>
            <a:br/>
            <a:r>
              <a:t>• </a:t>
            </a:r>
            <a:br/>
            <a:r>
              <a:t>• РОЛЬ: Ты — инженер ПТО.</a:t>
            </a:r>
            <a:br/>
            <a:r>
              <a:t>• ЗАДАЧА: Сверь данные:</a:t>
            </a:r>
            <a:br/>
            <a:r>
              <a:t>• </a:t>
            </a:r>
            <a:br/>
            <a:r>
              <a:t>• По смете: монолитные стены — 420 м³, армирование — 25 т</a:t>
            </a:r>
            <a:br/>
            <a:r>
              <a:t>• По акту:  монолитные стены — 450 м³, армирование — 28 т</a:t>
            </a:r>
            <a:br/>
            <a:r>
              <a:t>• </a:t>
            </a:r>
            <a:br/>
            <a:r>
              <a:t>• ФОРМАТ: Таблица (позиция, по смете, по акту, отклонение, вывод).</a:t>
            </a:r>
            <a:br/>
            <a:r>
              <a:t>• </a:t>
            </a:r>
            <a:br/>
            <a:r>
              <a:t>• Проверьте: правильно посчитал отклонения? дал ли рекомендацию?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Путь от сегодня до ИИ-агентов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УРОВЕНЬ 0 (сегодня) → Базовые понятия, первые шаги в OpenWebUI</a:t>
            </a:r>
            <a:br/>
            <a:r>
              <a:t>• </a:t>
            </a:r>
            <a:br/>
            <a:r>
              <a:t>• УРОВЕНЬ 1 → Персональные промпты, Knowledge Base, шаблоны /смета /проверка</a:t>
            </a:r>
            <a:br/>
            <a:r>
              <a:t>• </a:t>
            </a:r>
            <a:br/>
            <a:r>
              <a:t>• УРОВЕНЬ 2 → ИИ с файлами: чертежи, фото, PDF. Интеграции.</a:t>
            </a:r>
            <a:br/>
            <a:r>
              <a:t>• </a:t>
            </a:r>
            <a:br/>
            <a:r>
              <a:t>• УРОВЕНЬ 3 → ИИ-АГЕНТЫ:</a:t>
            </a:r>
            <a:br/>
            <a:r>
              <a:t>•   • Агент проверяет акты каждое утро</a:t>
            </a:r>
            <a:br/>
            <a:r>
              <a:t>•   • Агент следит за сроками и шлёт предупреждения</a:t>
            </a:r>
            <a:br/>
            <a:r>
              <a:t>•   • Агент сам находит риски в новых договорах</a:t>
            </a:r>
            <a:br/>
            <a:r>
              <a:t>• </a:t>
            </a:r>
            <a:br/>
            <a:r>
              <a:t>• Следующий урок: углубление в вашу роль.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Домашнее задание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333333"/>
                </a:solidFill>
                <a:latin typeface="Arial"/>
              </a:defRPr>
            </a:pPr>
            <a:r>
              <a:t>• Выберите одну текущую задачу:</a:t>
            </a:r>
            <a:br/>
            <a:r>
              <a:t>• </a:t>
            </a:r>
            <a:br/>
            <a:r>
              <a:t>• 1. Составьте запрос по формуле РКЗФО</a:t>
            </a:r>
            <a:br/>
            <a:r>
              <a:t>•    (минимум: Роль + Задача + Формат)</a:t>
            </a:r>
            <a:br/>
            <a:r>
              <a:t>• </a:t>
            </a:r>
            <a:br/>
            <a:r>
              <a:t>• 2. Получите результат в OpenWebUI</a:t>
            </a:r>
            <a:br/>
            <a:r>
              <a:t>• </a:t>
            </a:r>
            <a:br/>
            <a:r>
              <a:t>• 3. Задайте Eval-вопрос: 'Что ты не учёл?'</a:t>
            </a:r>
            <a:br/>
            <a:r>
              <a:t>• </a:t>
            </a:r>
            <a:br/>
            <a:r>
              <a:t>• 4. Сделайте скриншот итогового диалога</a:t>
            </a:r>
            <a:br/>
            <a:r>
              <a:t>• </a:t>
            </a:r>
            <a:br/>
            <a:r>
              <a:t>• Формат сдачи: скриншот + 2 предложения</a:t>
            </a:r>
            <a:br/>
            <a:r>
              <a:t>• 'Что получилось, что неожиданно'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85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Вопросы?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ИИ — как калькулятор для инженера.</a:t>
            </a:r>
            <a:br/>
            <a:r>
              <a:t>Можно считать в столбик, но зачем?</a:t>
            </a:r>
            <a:br/>
            <a:r>
              <a:t>Ответственность всё равно на вас.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Широкоэкранный</PresentationFormat>
  <Paragraphs>0</Paragraphs>
  <Slides>19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0" baseType="lpstr"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Artur Arustamov</cp:lastModifiedBy>
  <cp:revision>2</cp:revision>
  <dcterms:created xsi:type="dcterms:W3CDTF">2013-01-27T09:14:16Z</dcterms:created>
  <dcterms:modified xsi:type="dcterms:W3CDTF">2026-07-10T08:26:00Z</dcterms:modified>
  <cp:category/>
</cp:coreProperties>
</file>