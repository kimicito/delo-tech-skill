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  <a:latin typeface="Arial"/>
              </a:defRPr>
            </a:pPr>
            <a:r>
              <a:t>Урок 1: Подготовка закупки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000">
                <a:solidFill>
                  <a:srgbClr val="CBD5E1"/>
                </a:solidFill>
                <a:latin typeface="Arial"/>
              </a:defRPr>
            </a:pPr>
            <a:r>
              <a:t>Как ИИ помогает составлять ТЗ, запрашивать цены и формировать конкурентные листы&lt;br&gt;&lt;br&gt;AI для закупщиков и логистов • 1.5 часа • Внутренняя коммерческая закупка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  <a:latin typeface="Arial"/>
              </a:defRPr>
            </a:pPr>
            <a:r>
              <a:t>Что вы заберёте с собой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474720" cy="4572000"/>
          </a:xfrm>
          <a:prstGeom prst="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3291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Arial"/>
              </a:defRPr>
            </a:pPr>
            <a:r>
              <a:t>ТЗ за 15 мин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>
                <a:solidFill>
                  <a:srgbClr val="CBD5E1"/>
                </a:solidFill>
                <a:latin typeface="Arial"/>
              </a:defRPr>
            </a:pPr>
            <a:r>
              <a:t>Составлять технические задания вместо 2 часов ручной работы. AI генерирует структуру, таблицы, требования — остаётся только проверить.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371600"/>
            <a:ext cx="3474720" cy="4572000"/>
          </a:xfrm>
          <a:prstGeom prst="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0" y="1645920"/>
            <a:ext cx="3291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Arial"/>
              </a:defRPr>
            </a:pPr>
            <a:r>
              <a:t>3 КП в таблице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74320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>
                <a:solidFill>
                  <a:srgbClr val="CBD5E1"/>
                </a:solidFill>
                <a:latin typeface="Arial"/>
              </a:defRPr>
            </a:pPr>
            <a:r>
              <a:t>Сравнивать коммерческие предложения с рейтингом по критериям. Автоматический расчёт: цена, сроки, гарантия, условия.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371600"/>
            <a:ext cx="3474720" cy="4572000"/>
          </a:xfrm>
          <a:prstGeom prst="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645920"/>
            <a:ext cx="3291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Arial"/>
              </a:defRPr>
            </a:pPr>
            <a:r>
              <a:t>Перевод ТКП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74320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>
                <a:solidFill>
                  <a:srgbClr val="CBD5E1"/>
                </a:solidFill>
                <a:latin typeface="Arial"/>
              </a:defRPr>
            </a:pPr>
            <a:r>
              <a:t>Переводить технико-коммерческие предложения от иностранных поставщиков и вести переписку на английском/китайском.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Что такое Generative AI? Простая аналогия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Представьте, что вы задаёте вопрос очень опытному коллеге, который прочитал тысячи документов, участвовал в сотнях закупок и помнит всё. Он отвечает за секунды, не устаёт, не болеет, работает 24/7.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Это НЕ поисковик:</a:t>
            </a:r>
            <a:br/>
            <a:r>
              <a:t>• Яндекс находит ссылки → вы сами читаете и обобщаете → 10 ссылок = 2 часа работы</a:t>
            </a:r>
            <a:br/>
            <a:r>
              <a:t>• AI создаёт готовый документ → обобщает за вас → 1 ответ = 2 минуты проверки</a:t>
            </a:r>
            <a:br/>
            <a:r>
              <a:t>• AI понимает контекст вашей компании, если загрузить документы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Почему именно GENAi? Безопасность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Ваши данные НЕ уходят наружу:</a:t>
            </a:r>
            <a:br/>
            <a:r>
              <a:t>• Не в ChatGPT (OpenAI, США)</a:t>
            </a:r>
            <a:br/>
            <a:r>
              <a:t>• Не в Яндекс GPT (Яндекс, РФ)</a:t>
            </a:r>
            <a:br/>
            <a:r>
              <a:t>• Не в Google (Gemini, США)</a:t>
            </a:r>
            <a:br/>
            <a:r>
              <a:t>• Работаем в закрытом контуре компании</a:t>
            </a:r>
            <a:br/>
            <a:r>
              <a:t>• Сервер стоит внутри, данные остаются внутри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Что можно загружать без опасений:</a:t>
            </a:r>
            <a:br/>
            <a:r>
              <a:t>• Внутренние регламенты закупок</a:t>
            </a:r>
            <a:br/>
            <a:r>
              <a:t>• Коммерческие предложения с реальными ценами</a:t>
            </a:r>
            <a:br/>
            <a:r>
              <a:t>• Договоры и приложения</a:t>
            </a:r>
            <a:br/>
            <a:r>
              <a:t>• Прайс-листы и технические задания</a:t>
            </a:r>
            <a:br/>
            <a:r>
              <a:t>• Переписка с поставщиками (в том числе конфиденциальная)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Схема: Ваш компьютер → Внутренний сервер GENAi → Ответ (никуда больше не идёт)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Интерфейс GENAi — 5 главных элементов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474720" cy="2331720"/>
          </a:xfrm>
          <a:prstGeom prst="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Новый чат (+)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3291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CBD5E1"/>
                </a:solidFill>
                <a:latin typeface="Arial"/>
              </a:defRPr>
            </a:pPr>
            <a:r>
              <a:t>Начать новый разговор. Старые чаты сохраняются в истории слева. Можно вернуться к любому диалогу.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188720"/>
            <a:ext cx="3474720" cy="2331720"/>
          </a:xfrm>
          <a:prstGeom prst="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0" y="13258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Скрепка 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828800"/>
            <a:ext cx="3291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CBD5E1"/>
                </a:solidFill>
                <a:latin typeface="Arial"/>
              </a:defRPr>
            </a:pPr>
            <a:r>
              <a:t>Прикрепить файл: PDF (ТЗ, КП, договор), Word, Excel. AI проанализирует содержимое и ответит по документу.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188720"/>
            <a:ext cx="3474720" cy="2331720"/>
          </a:xfrm>
          <a:prstGeom prst="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3258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Выбор модели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828800"/>
            <a:ext cx="3291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CBD5E1"/>
                </a:solidFill>
                <a:latin typeface="Arial"/>
              </a:defRPr>
            </a:pPr>
            <a:r>
              <a:t>Llama 3 / Mistral — для текстов и анализа. Qwen — если работаете с китайскими поставщиками. Переключайте под задачу.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03320"/>
            <a:ext cx="3474720" cy="2331720"/>
          </a:xfrm>
          <a:prstGeom prst="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Настройки 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43400"/>
            <a:ext cx="3291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CBD5E1"/>
                </a:solidFill>
                <a:latin typeface="Arial"/>
              </a:defRPr>
            </a:pPr>
            <a:r>
              <a:t>System Prompt — настройка ассистента под ваш стиль. Temperature — строгость ответов (0.1 для документов, 0.7 для идей).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3703320"/>
            <a:ext cx="3474720" cy="2331720"/>
          </a:xfrm>
          <a:prstGeom prst="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38404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Шаблоны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343400"/>
            <a:ext cx="3291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CBD5E1"/>
                </a:solidFill>
                <a:latin typeface="Arial"/>
              </a:defRPr>
            </a:pPr>
            <a:r>
              <a:t>Сохраняйте частые запросы. В GENAi можно создавать собственные шаблоны промптов для повторяющихся задач.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Формула РКЗФО — говорите с ИИ на одном языке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Проблема: 'Проверь договор' = плохой запрос. Почему? ИИ не знает:</a:t>
            </a:r>
            <a:br/>
            <a:r>
              <a:t>• Кто вы? (юрист, закупщик, директор?)</a:t>
            </a:r>
            <a:br/>
            <a:r>
              <a:t>• Что искать? (риски, цены, сроки?)</a:t>
            </a:r>
            <a:br/>
            <a:r>
              <a:t>• Для чего? (для согласования, для переговоров?)</a:t>
            </a:r>
            <a:br/>
            <a:r>
              <a:t>• В каком формате? (таблица, текст, письмо?)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Решение — 5 элементов:</a:t>
            </a:r>
            <a:br/>
            <a:r>
              <a:t>• РОЛЬ — кто вы? ('Ты — закупщик с 10-летним стажем')</a:t>
            </a:r>
            <a:br/>
            <a:r>
              <a:t>• КОНТЕКСТ — ситуация ('Внутренняя закупка, бюджет до 2 млн ₽')</a:t>
            </a:r>
            <a:br/>
            <a:r>
              <a:t>• ЗАДАЧА — что сделать ('Составь ТЗ на графитированные электроды')</a:t>
            </a:r>
            <a:br/>
            <a:r>
              <a:t>• ФОРМАТ — как оформить ('Таблица + требования + форма заявки')</a:t>
            </a:r>
            <a:br/>
            <a:r>
              <a:t>• ОГРАНИЧЕНИЯ — границы ('Без 44-ФЗ, только внутренние требования')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🔑 Начинайте с РОЛИ. Одно слово повышает качество на 50%.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Плохой vs Хороший запрос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solidFill>
            <a:srgbClr val="1E0F0F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F4444"/>
                </a:solidFill>
                <a:latin typeface="Arial"/>
              </a:defRPr>
            </a:pPr>
            <a:r>
              <a:t>❌ Плохой запрос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Напиши ТЗ на ферросплавы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→ Общий шаблон, неприменимый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→ Без параметров, без контекста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→ Без требований к поставщику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Результат: непригодно к использованию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solidFill>
            <a:srgbClr val="0F1E1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Arial"/>
              </a:defRPr>
            </a:pPr>
            <a:r>
              <a:t>✅ Хороший запрос (РКЗФО)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Роль: металлург-технолог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Контекст: электросталеплавильный цех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Задача: ТЗ на ферромарганец 78% Мн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Формат: таблица с химсоставом, гранулометрией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Ограничения: без 44-ФЗ, ГОСТ 4755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Результат: готовое ТЗ для поставщика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Eval — ИИ проверяет сам себя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Зачем нужен Eval? AI может:</a:t>
            </a:r>
            <a:br/>
            <a:r>
              <a:t>• Что-то упустить (забыть про гарантию)</a:t>
            </a:r>
            <a:br/>
            <a:r>
              <a:t>• Обобщить важную деталь</a:t>
            </a:r>
            <a:br/>
            <a:r>
              <a:t>• Домыслить то, чего нет в контексте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Eval = просим ИИ найти свои ошибки.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4 вопроса для Eval:</a:t>
            </a:r>
            <a:br/>
            <a:r>
              <a:t>1. 'Оцени ответ 1–10' — выявляет галлюцинации, выдуманные факты</a:t>
            </a:r>
            <a:br/>
            <a:r>
              <a:t>2. 'Что ты не учёл?' — находит слепые пятна, упущенные параметры</a:t>
            </a:r>
            <a:br/>
            <a:r>
              <a:t>3. 'Найди 3 слабых места' — ловит неточности, допущения</a:t>
            </a:r>
            <a:br/>
            <a:r>
              <a:t>4. 'Предложи другой подход' — даёт альтернативные решения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Пример Eval для ТЗ:</a:t>
            </a:r>
            <a:br/>
            <a:r>
              <a:t>'Оцени ТЗ 1–10. Какие технические параметры упустил? Что должен указать заказчик? Какие риски для поставщика не учтены?'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Результат: ИИ находит слабые места и предлагает улучшения.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4 фишки GENAi для закупщика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303520" cy="2331720"/>
          </a:xfrm>
          <a:prstGeom prst="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Фишка 1: Загрузка файлов 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CBD5E1"/>
                </a:solidFill>
                <a:latin typeface="Arial"/>
              </a:defRPr>
            </a:pPr>
            <a:r>
              <a:t>Загружайте старые ТЗ → ИИ повторит структуру. Загружайте КП → ИИ извлечёт цены. Загружайте договоры → ИИ найдёт риски.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188720"/>
            <a:ext cx="5303520" cy="2331720"/>
          </a:xfrm>
          <a:prstGeom prst="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13258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Фишка 2: System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828800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CBD5E1"/>
                </a:solidFill>
                <a:latin typeface="Arial"/>
              </a:defRPr>
            </a:pPr>
            <a:r>
              <a:t>Настройка ассистента: 'Ты — ассистент закупщика. Всегда используй таблицы. Структура: анализ → риски → рекомендация.' Каждый чат работает по вашим правилам.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03320"/>
            <a:ext cx="5303520" cy="2331720"/>
          </a:xfrm>
          <a:prstGeom prst="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Фишка 3: Шаблоны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CBD5E1"/>
                </a:solidFill>
                <a:latin typeface="Arial"/>
              </a:defRPr>
            </a:pPr>
            <a:r>
              <a:t>Сохраняйте хорошие промпты как шаблоны. ТЗ_закупка → готовый промпт за 2 секунды. Экономия 5-10 минут.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703320"/>
            <a:ext cx="5303520" cy="2331720"/>
          </a:xfrm>
          <a:prstGeom prst="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8404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Фишка 4: Knowledge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343400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CBD5E1"/>
                </a:solidFill>
                <a:latin typeface="Arial"/>
              </a:defRPr>
            </a:pPr>
            <a:r>
              <a:t>Загрузите регламенты, шаблоны ТЗ, историю закупок. ИИ будет отвечать с учётом ваших правил и примеров.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Демо 1: Составление ТЗ на ферросплавы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Сценарий: нужно купить ферромарганец для электросталеплавильного цеха.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Шаг 1 — базовый запрос:</a:t>
            </a:r>
            <a:br/>
            <a:r>
              <a:t>'Составь ТЗ на закупку ферромарганца.'</a:t>
            </a:r>
            <a:br/>
            <a:r>
              <a:t>→ Результат: общий шаблон. Без параметров, без специфики.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Шаг 2 — улучшенный запрос (РКЗФО):</a:t>
            </a:r>
            <a:br/>
            <a:r>
              <a:t>Роль: металлург-технолог. Контекст: электросталеплавильный цех, плавка стали 12Х18Н10Т, объём 500 т/мес. Задача: ТЗ на ферромарганец ФМн78 по ГОСТ 4755. Формат: общие требования + химический состав (таблица: элемент, мин%, макс%) + гранулометрия + требования к упаковке и маркировке + условия поставки + форма заявки. Ограничения: поставка в вагонах, мин партия 60 т.</a:t>
            </a:r>
            <a:br/>
            <a:r>
              <a:t>→ Результат: готовое ТЗ с таблицами.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Шаг 3 — Eval:</a:t>
            </a:r>
            <a:br/>
            <a:r>
              <a:t>'Оцени ТЗ 1–10. Что не учтено для зимней поставки? Какие требования к влажности?'</a:t>
            </a:r>
            <a:br/>
            <a:r>
              <a:t>→ Результат: улучшенное ТЗ с недостающими пунктами.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Демо 2: Конкурентный лист из 3 КП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Сценарий: получили 3 предложения на графитированные электроды УHP 450 мм (100 шт).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Данные:</a:t>
            </a:r>
            <a:br/>
            <a:r>
              <a:t>• Поставщик А (Китай): $4200/т, 45 дней, гарантия 6 мес, оплата 30/70, доставка CIF</a:t>
            </a:r>
            <a:br/>
            <a:r>
              <a:t>• Поставщик Б (РФ): $5100/т, 14 дней, гарантия 12 мес, оплата 50/50, доставка самовывоз</a:t>
            </a:r>
            <a:br/>
            <a:r>
              <a:t>• Поставщик В (Индия): $3900/т, 60 дней, гарантия 3 мес, оплата 100% предоплата, доставка CIF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Промпт:</a:t>
            </a:r>
            <a:br/>
            <a:r>
              <a:t>Роль: аналитик закупок металлургического сырья. Задача: сформировать конкурентный лист. Требования: таблица сравнения + критерии оценки (цена 35%, срок 25%, гарантия 20%, условия 20%) + рейтинг 1-5 по каждому критерию + итоговый рейтинг + рекомендация с обоснованием.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Результат: таблица с взвешенными оценками, итоговый рейтинг, рекомендация с цифрами.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Eval: 'Какие риски не учтены? Что проверить у поставщиков? Какие скрытые затраты (таможня, НДС)?'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Демо 3: Перевод ТКП и переписка с поставщиками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Сценарий: получили ТКП от китайского поставщика на огнеупорные материалы. Нужно перевести и подготовить ответ.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Шаг 1 — Перевод ТКП:</a:t>
            </a:r>
            <a:br/>
            <a:r>
              <a:t>[Загрузить PDF через скрепку]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Промпт:</a:t>
            </a:r>
            <a:br/>
            <a:r>
              <a:t>'Роль: переводчик технических текстов. Задача: перевести ТКП с китайского на русский. Сохранить таблицы, цифры, технические термины. Формат: русский текст с оригинальными названиями в скобках. Ограничения: не упрощай, сохрани все технические детали.'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Шаг 2 — Подготовка ответа поставщику:</a:t>
            </a:r>
            <a:br/>
            <a:r>
              <a:t>Промпт:</a:t>
            </a:r>
            <a:br/>
            <a:r>
              <a:t>'Роль: менеджер по закупкам. Задача: написать ответное письмо китайскому поставщику на английском. Контекст: мы рассматриваем их ТКП, но цена выше рынка на 15%. Просим скидку или альтернативные марки. Тон: деловой, вежливый, но твёрдый. Формат: деловое письмо. Ограничения: без обещаний, укажем, что решение через 2 недели.'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⚠️ Важно: Всегда проверяйте перевод технических терминов. GENAi может ошибаться в специфической лексике.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  <a:latin typeface="Arial"/>
              </a:defRPr>
            </a:pPr>
            <a:r>
              <a:t>Практика — 2 задания по 15 минут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120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Arial"/>
              </a:defRPr>
            </a:pPr>
            <a:r>
              <a:t>Задание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>
                <a:solidFill>
                  <a:srgbClr val="CBD5E1"/>
                </a:solidFill>
                <a:latin typeface="Arial"/>
              </a:defRPr>
            </a:pPr>
            <a:r>
              <a:t>Составить ТЗ на закупку ферросплавов (выберите любой: ферромарганец, феррохром, кремний) через GENAi. Использовать РКЗФО + Eval.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371600"/>
            <a:ext cx="5303520" cy="4572000"/>
          </a:xfrm>
          <a:prstGeom prst="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1645920"/>
            <a:ext cx="5120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Arial"/>
              </a:defRPr>
            </a:pPr>
            <a:r>
              <a:t>Задание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74320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>
                <a:solidFill>
                  <a:srgbClr val="CBD5E1"/>
                </a:solidFill>
                <a:latin typeface="Arial"/>
              </a:defRPr>
            </a:pPr>
            <a:r>
              <a:t>Перевести фрагмент ТКП от иностранного поставщика (предоставим текст) или сформировать конкурентный лист из 3 предложений.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Готовые шаблоны для GENAi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303520" cy="2331720"/>
          </a:xfrm>
          <a:prstGeom prst="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ТЗ_закупка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CBD5E1"/>
                </a:solidFill>
                <a:latin typeface="Arial"/>
              </a:defRPr>
            </a:pPr>
            <a:r>
              <a:t>Роль + Контекст + Задача + Формат (5 разделов) + Ограничения. Готовое ТЗ за 2 минуты.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188720"/>
            <a:ext cx="5303520" cy="2331720"/>
          </a:xfrm>
          <a:prstGeom prst="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13258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конкурентный_лист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828800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CBD5E1"/>
                </a:solidFill>
                <a:latin typeface="Arial"/>
              </a:defRPr>
            </a:pPr>
            <a:r>
              <a:t>3+ предложения → таблица → критерии с весами → рейтинг 1-5 → итоговый рейтинг → рекомендация.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03320"/>
            <a:ext cx="5303520" cy="2331720"/>
          </a:xfrm>
          <a:prstGeom prst="rect">
            <a:avLst/>
          </a:prstGeom>
          <a:solidFill>
            <a:srgbClr val="14141E"/>
          </a:solidFill>
          <a:ln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перевод_ТКП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>
                <a:solidFill>
                  <a:srgbClr val="CBD5E1"/>
                </a:solidFill>
                <a:latin typeface="Arial"/>
              </a:defRPr>
            </a:pPr>
            <a:r>
              <a:t>Загрузка PDF → перевод с сохранением таблиц и терминов → проверка технических деталей.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Домашнее задание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Выберите одну из ваших текущих закупок (металлургическое сырьё, ферросплавы, огнеупоры, электроды):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1. Составьте ТЗ с помощью ИИ (используйте РКЗФО)</a:t>
            </a:r>
            <a:br/>
            <a:r>
              <a:t>2. Проведите Eval (улучшите ТЗ)</a:t>
            </a:r>
            <a:br/>
            <a:r>
              <a:t>3. Если есть КП от иностранных поставщиков — переведите через GENAi</a:t>
            </a:r>
            <a:br/>
            <a:r>
              <a:t>4. Если нужно найти поставщиков — попробуйте через ИИ (проверьте реальность!)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Формат сдачи:</a:t>
            </a:r>
            <a:br/>
            <a:r>
              <a:t>• Скриншот диалога с ИИ</a:t>
            </a:r>
            <a:br/>
            <a:r>
              <a:t>• Итоговый документ (ТЗ, перевод или конкурентный лист)</a:t>
            </a:r>
            <a:br/>
            <a:r>
              <a:t>• Короткое резюме: 'Что получилось / что не получилось / сколько времени сэкономил'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Куда: чат #ai-help или email [внутренний]</a:t>
            </a:r>
            <a:br/>
            <a:r>
              <a:t>Дедлайн: до Урока 2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💡 Совет: Не ждите идеального кейса. Попробуйте на чём угодно — даже на закупке канцелярии. Главное — привычка.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Что будет в Уроке 2: Анализ и выбор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Следующее занятие:</a:t>
            </a:r>
            <a:br/>
            <a:r>
              <a:t>• Сравнение ТКП с техническим заданием — соответствуют ли предложения ТЗ?</a:t>
            </a:r>
            <a:br/>
            <a:r>
              <a:t>• Проверка договоров — риски, неопределённости, отсутствующие условия</a:t>
            </a:r>
            <a:br/>
            <a:r>
              <a:t>• Red Team анализ — ИИ играет против нас, чтобы найти слабые места</a:t>
            </a:r>
            <a:br/>
            <a:r>
              <a:t>• TCO (стоимость владения) — считаем не только цену, но и 3-летнюю стоимость</a:t>
            </a:r>
            <a:br/>
            <a:r>
              <a:t>• Обоснованная рекомендация с цифрами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700">
                <a:solidFill>
                  <a:srgbClr val="FFFFFF"/>
                </a:solidFill>
                <a:latin typeface="Arial"/>
              </a:defRPr>
            </a:pPr>
            <a:r>
              <a:t>Готовьте:</a:t>
            </a:r>
            <a:br/>
            <a:r>
              <a:t>• Реальные КП от поставщиков (если есть)</a:t>
            </a:r>
            <a:br/>
            <a:r>
              <a:t>• Шаблон вашего договора (если можно)</a:t>
            </a:r>
            <a:br/>
            <a:r>
              <a:t>• Вопросы, которые возникли после Урока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  <a:latin typeface="Arial"/>
              </a:defRPr>
            </a:pPr>
            <a:r>
              <a:t>Вопросы?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000">
                <a:solidFill>
                  <a:srgbClr val="CBD5E1"/>
                </a:solidFill>
                <a:latin typeface="Arial"/>
              </a:defRPr>
            </a:pPr>
            <a:r>
              <a:t>Контакты: чат #ai-help • Шаблоны: ТЗ_закупка, конкурентный_лист, перевод_ТКП&lt;br&gt;&lt;br&gt;Правило: Если задача занимает &gt; 15 минут — сначала спросите ИИ.&lt;br&gt;&lt;br&gt;Урок 2: Анализ и выбор → сравнение ТКП, проверка договоров, риски, TCO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