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81" r:id="rId3"/>
    <p:sldId id="269" r:id="rId4"/>
    <p:sldId id="257" r:id="rId5"/>
    <p:sldId id="259" r:id="rId6"/>
    <p:sldId id="260" r:id="rId7"/>
    <p:sldId id="276" r:id="rId8"/>
    <p:sldId id="274" r:id="rId9"/>
    <p:sldId id="275" r:id="rId10"/>
    <p:sldId id="261" r:id="rId11"/>
    <p:sldId id="270" r:id="rId12"/>
    <p:sldId id="271" r:id="rId13"/>
    <p:sldId id="262" r:id="rId14"/>
    <p:sldId id="272" r:id="rId15"/>
    <p:sldId id="277" r:id="rId16"/>
    <p:sldId id="278" r:id="rId17"/>
    <p:sldId id="263" r:id="rId18"/>
    <p:sldId id="273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5304"/>
  </p:normalViewPr>
  <p:slideViewPr>
    <p:cSldViewPr snapToGrid="0">
      <p:cViewPr varScale="1">
        <p:scale>
          <a:sx n="83" d="100"/>
          <a:sy n="83" d="100"/>
        </p:scale>
        <p:origin x="232" y="5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2/21/26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2/21/26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2/21/26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2/21/26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2/21/26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0A5F8-5371-F3F2-3C5B-40AB56926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dirty="0"/>
              <a:t>Слободы таганки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8AD789-AAB3-E86E-291D-13BCCAA274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600" b="1" dirty="0"/>
              <a:t>от слободских стен до городских легенд</a:t>
            </a:r>
          </a:p>
          <a:p>
            <a:pPr algn="ctr"/>
            <a:r>
              <a:rPr lang="ru-RU" sz="2800" b="0" i="1" u="none" strike="noStrike" dirty="0">
                <a:solidFill>
                  <a:srgbClr val="404040"/>
                </a:solidFill>
                <a:effectLst/>
                <a:latin typeface="DeepSeek-CJK-patch"/>
              </a:rPr>
              <a:t>История, культура и люди, создавшие уникальный облик столицы</a:t>
            </a:r>
            <a:endParaRPr lang="ru-RU" sz="3600" i="1" dirty="0"/>
          </a:p>
        </p:txBody>
      </p:sp>
    </p:spTree>
    <p:extLst>
      <p:ext uri="{BB962C8B-B14F-4D97-AF65-F5344CB8AC3E}">
        <p14:creationId xmlns:p14="http://schemas.microsoft.com/office/powerpoint/2010/main" val="2136128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1BD2F-8DA7-F899-DA46-80AB8A59F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C738F6-F70D-DB7C-C134-A18F93ABD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Добавить про бессистемную застройку города</a:t>
            </a:r>
          </a:p>
          <a:p>
            <a:r>
              <a:rPr lang="ru-RU" dirty="0"/>
              <a:t>Про первые планы в том числе геодезические</a:t>
            </a:r>
          </a:p>
          <a:p>
            <a:r>
              <a:rPr lang="ru-RU" dirty="0"/>
              <a:t>Про запрет на </a:t>
            </a:r>
            <a:r>
              <a:rPr lang="ru-RU"/>
              <a:t>каменное строительство</a:t>
            </a:r>
          </a:p>
        </p:txBody>
      </p:sp>
    </p:spTree>
    <p:extLst>
      <p:ext uri="{BB962C8B-B14F-4D97-AF65-F5344CB8AC3E}">
        <p14:creationId xmlns:p14="http://schemas.microsoft.com/office/powerpoint/2010/main" val="2414816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15D1CB-A101-7010-A2F4-9637A516E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москва</a:t>
            </a:r>
            <a:endParaRPr lang="ru-RU" dirty="0"/>
          </a:p>
        </p:txBody>
      </p:sp>
      <p:pic>
        <p:nvPicPr>
          <p:cNvPr id="6146" name="Picture 2" descr="101 ПОСТЕР Постер &quot;Старая карта Москвы 1836 год / Постер Ретро Карта Москва 19 век&quot;, 42 см х 42 см  #2">
            <a:extLst>
              <a:ext uri="{FF2B5EF4-FFF2-40B4-BE49-F238E27FC236}">
                <a16:creationId xmlns:a16="http://schemas.microsoft.com/office/drawing/2014/main" id="{C85F0FDF-1619-40CA-F3FC-7B08796266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76" y="958850"/>
            <a:ext cx="7219357" cy="541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32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AE843D-25C0-76B1-2874-DEFF8967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Слободы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6E4431-E623-DF8B-DA7B-D18F66E70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51708"/>
            <a:ext cx="8115716" cy="4620491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Сло́боды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Москвы́ — территориально обособленные поселения в XIV — начале XVIII веках слободских людей, близких по роду занятий или по происхождению.</a:t>
            </a:r>
          </a:p>
          <a:p>
            <a:pPr algn="just"/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Из слобод состоял посад Москвы. Слободы были образованы посадскими людьми, которые пользовались определёнными льготами, от великого князя или царя.</a:t>
            </a:r>
          </a:p>
          <a:p>
            <a:pPr indent="0" algn="just"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Согласно документам XVII века, московские слободы различались по сословному составу, по профессиям и повинностям, всего их было пять групп:</a:t>
            </a:r>
          </a:p>
          <a:p>
            <a:pPr marL="0" indent="0" algn="just"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дворцовые и казённые, включавшие 51 слободу;</a:t>
            </a:r>
          </a:p>
          <a:p>
            <a:pPr marL="0" indent="0" algn="just"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военные (стрелецкие, пушкарские и так далее) — 33 слободы;</a:t>
            </a:r>
          </a:p>
          <a:p>
            <a:pPr marL="0" indent="0" algn="just"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монастырские и владычные (патриаршие и митрополичьи) — 26 слобод;</a:t>
            </a:r>
          </a:p>
          <a:p>
            <a:pPr marL="0" indent="0" algn="just"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для проживания иностранцев — 8 слобод;</a:t>
            </a:r>
          </a:p>
          <a:p>
            <a:pPr marL="0" indent="0" algn="just"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большая группа в 25 тяглых слобод, получивших название «чёрных» сотен и слобод (тягло – государственный налог или повинность)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079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7E88E-0B64-56A3-B0B7-ACD8AC128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152400"/>
            <a:ext cx="10823448" cy="1274618"/>
          </a:xfrm>
        </p:spPr>
        <p:txBody>
          <a:bodyPr/>
          <a:lstStyle/>
          <a:p>
            <a:r>
              <a:rPr lang="ru-RU" dirty="0"/>
              <a:t>таганка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921C8-795C-B76E-7D31-3130C2091C93}"/>
              </a:ext>
            </a:extLst>
          </p:cNvPr>
          <p:cNvSpPr txBox="1"/>
          <p:nvPr/>
        </p:nvSpPr>
        <p:spPr>
          <a:xfrm>
            <a:off x="135212" y="842818"/>
            <a:ext cx="62098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Историческая справка Таганского района: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1272 г. – было основано </a:t>
            </a:r>
            <a:r>
              <a:rPr lang="ru-RU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Крутицкое</a:t>
            </a:r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подворье</a:t>
            </a:r>
          </a:p>
          <a:p>
            <a:pPr algn="just"/>
            <a:r>
              <a:rPr lang="ru-RU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1357 г. – основан </a:t>
            </a:r>
            <a:r>
              <a:rPr lang="ru-RU" sz="14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Спасо</a:t>
            </a:r>
            <a:r>
              <a:rPr lang="ru-RU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-Андронников монастырь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1380 г. – построена церковь Всех святых на Кулишках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1488 г. - деревянная </a:t>
            </a:r>
            <a:r>
              <a:rPr lang="ru-RU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Всехсвятская</a:t>
            </a:r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церковь сгорела, и вместо 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нее построили каменную</a:t>
            </a:r>
          </a:p>
          <a:p>
            <a:pPr algn="just"/>
            <a:r>
              <a:rPr lang="ru-RU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1490г. – основан Новоспасский монастырь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1504 г. – основан Покровский </a:t>
            </a:r>
            <a:r>
              <a:rPr lang="ru-RU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Лыщиков</a:t>
            </a:r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монастырь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1653 г. – был основан Покровский монастырь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1687-1689 гг. – была заново выстроена Всех святых на Кулишках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1764 г. - на Васильевском лугу заложили Воспитательный дом</a:t>
            </a:r>
          </a:p>
          <a:p>
            <a:pPr algn="just"/>
            <a:r>
              <a:rPr lang="ru-RU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1771 г. – основан Старообрядческий Рогожский храмовый комплекс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1812 г. – в ходе пожара почти все </a:t>
            </a:r>
            <a:r>
              <a:rPr lang="ru-RU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Заяузье</a:t>
            </a:r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выгорело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1822—1824 </a:t>
            </a:r>
            <a:r>
              <a:rPr lang="ru-RU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г.г</a:t>
            </a:r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- князь С. М. Голицын выделил средства на постройку Храма Николы в Котельниках, проект для которого разработал О. И. Бове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 в. - Таганка вместе с Замоскворечьем стали местом обитания купечества в Москве</a:t>
            </a:r>
          </a:p>
          <a:p>
            <a:pPr algn="just"/>
            <a:r>
              <a:rPr lang="ru-RU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1862 г. – основан </a:t>
            </a:r>
            <a:r>
              <a:rPr lang="ru-RU" sz="14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Всехсвятский</a:t>
            </a:r>
            <a:r>
              <a:rPr lang="ru-RU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единоверческий монастырь за Рогожской заставой 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1923 г. – был построен первый жилой дом в Москве за послереволюционный период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1938—1940 </a:t>
            </a:r>
            <a:r>
              <a:rPr lang="ru-RU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г.г</a:t>
            </a:r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- по красной линии Котельнической набережной был сооружен жилой дом, </a:t>
            </a:r>
            <a:r>
              <a:rPr lang="ru-RU" sz="14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часть</a:t>
            </a:r>
            <a:r>
              <a:rPr lang="ru-RU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будущей</a:t>
            </a:r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сталинской высотки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1970 </a:t>
            </a:r>
            <a:r>
              <a:rPr lang="ru-RU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г.г</a:t>
            </a:r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- на Таганской площади снесли торговые ряды, построенные О. Бове, и превратили ее в широкую современную магистраль</a:t>
            </a:r>
          </a:p>
          <a:p>
            <a:pPr algn="just"/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1973 г. – были узаконены девять заповедных зон, в число которых вошло и </a:t>
            </a:r>
            <a:r>
              <a:rPr lang="ru-RU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Заяузье</a:t>
            </a:r>
            <a:r>
              <a:rPr lang="ru-RU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черте Садового кольца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B6092FBD-AF6D-082F-B032-06DE94D49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096" y="0"/>
            <a:ext cx="5711692" cy="5735782"/>
          </a:xfrm>
        </p:spPr>
      </p:pic>
    </p:spTree>
    <p:extLst>
      <p:ext uri="{BB962C8B-B14F-4D97-AF65-F5344CB8AC3E}">
        <p14:creationId xmlns:p14="http://schemas.microsoft.com/office/powerpoint/2010/main" val="233783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A3BAD-23B2-CB4B-D17A-4D752C17B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Китай – город</a:t>
            </a:r>
            <a:br>
              <a:rPr lang="en-US" dirty="0"/>
            </a:br>
            <a:r>
              <a:rPr lang="ru-RU" sz="1400" dirty="0"/>
              <a:t>слободы Таганки за границами  </a:t>
            </a:r>
            <a:r>
              <a:rPr lang="ru-RU" sz="1400" dirty="0" err="1"/>
              <a:t>китай</a:t>
            </a:r>
            <a:r>
              <a:rPr lang="ru-RU" sz="1400" dirty="0"/>
              <a:t> города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1FF7B1-49F9-5D4C-C798-8400F4D73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Варваринская башня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Церковь всех святых на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кулишках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Соляная слобода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Певческая слобода</a:t>
            </a:r>
          </a:p>
          <a:p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Хитровка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2050" name="Picture 2" descr="Белый город в Москве: история и название, где проходила ...">
            <a:extLst>
              <a:ext uri="{FF2B5EF4-FFF2-40B4-BE49-F238E27FC236}">
                <a16:creationId xmlns:a16="http://schemas.microsoft.com/office/drawing/2014/main" id="{091697B1-F5D8-BFE7-9993-27C6EF937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51" y="1289303"/>
            <a:ext cx="4435602" cy="4174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052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58F0B3-3981-A3E5-B924-B78A240E6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84632"/>
            <a:ext cx="10344150" cy="618470"/>
          </a:xfrm>
        </p:spPr>
        <p:txBody>
          <a:bodyPr>
            <a:normAutofit fontScale="90000"/>
          </a:bodyPr>
          <a:lstStyle/>
          <a:p>
            <a:r>
              <a:rPr lang="ru-RU" dirty="0"/>
              <a:t>Воспитательный дом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CF6AA8-49F8-DA20-F8C2-D3A425C61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314450"/>
            <a:ext cx="7600950" cy="5058918"/>
          </a:xfrm>
        </p:spPr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Москворецкая набережная, Воспитательный дома, построен точно на месте </a:t>
            </a:r>
            <a:r>
              <a:rPr lang="ru-RU" b="0" i="0" u="none" strike="noStrike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Белогородской</a:t>
            </a:r>
            <a:r>
              <a:rPr lang="ru-RU" b="0" i="0" u="none" strike="noStrike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крепости. Согласно указу 1763 года : «старую городскую стену употребить в строение». К этому времени стена, последний раз ремонтировавшаяся в 1659-м, страшно обветшала (в 1750 году при обрушении стены у </a:t>
            </a:r>
            <a:r>
              <a:rPr lang="ru-RU" b="0" i="0" u="none" strike="noStrike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Всехсвятских</a:t>
            </a:r>
            <a:r>
              <a:rPr lang="ru-RU" b="0" i="0" u="none" strike="noStrike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ворот погибли четверо обывателей), а в наиболее опасных местах уже была разобрана и сложена в штабеля и груды. Ее материала хватило и на Воспитательный дом, и на ремонт Арсенала, и на собственный дом главнокомандующего Москвы (нижние этажи нынешней мэрии на Тверской улице). Кирпич тогда был в большом дефиците, так что аппетит застройщиков смел древнюю крепость под абсолютный ноль, во многих местах были вынуты даже фундаменты. 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vosdom">
            <a:extLst>
              <a:ext uri="{FF2B5EF4-FFF2-40B4-BE49-F238E27FC236}">
                <a16:creationId xmlns:a16="http://schemas.microsoft.com/office/drawing/2014/main" id="{3BFF9365-A8DB-551B-10D0-76345B95B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700" y="313309"/>
            <a:ext cx="44323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5D996-8F1D-8FEF-4F87-55C94836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75" y="484632"/>
            <a:ext cx="10897673" cy="1609344"/>
          </a:xfrm>
        </p:spPr>
        <p:txBody>
          <a:bodyPr>
            <a:normAutofit/>
          </a:bodyPr>
          <a:lstStyle/>
          <a:p>
            <a:r>
              <a:rPr lang="ru-RU" sz="4400" dirty="0"/>
              <a:t>Варваринские </a:t>
            </a:r>
            <a:r>
              <a:rPr lang="ru-RU" sz="4400" dirty="0" err="1"/>
              <a:t>всехсвятские</a:t>
            </a:r>
            <a:r>
              <a:rPr lang="ru-RU" sz="4400" dirty="0"/>
              <a:t> ворота и Соляной двор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FE8E24-AC7B-10D4-0905-F21EA97F6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8770" y="604835"/>
            <a:ext cx="3372655" cy="4559831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95CD3AD-5104-B65C-96BD-E8AA677CA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531" y="2093976"/>
            <a:ext cx="3243022" cy="4764024"/>
          </a:xfrm>
          <a:prstGeom prst="rect">
            <a:avLst/>
          </a:prstGeom>
        </p:spPr>
      </p:pic>
      <p:pic>
        <p:nvPicPr>
          <p:cNvPr id="9" name="Объект 4">
            <a:extLst>
              <a:ext uri="{FF2B5EF4-FFF2-40B4-BE49-F238E27FC236}">
                <a16:creationId xmlns:a16="http://schemas.microsoft.com/office/drawing/2014/main" id="{0F2160C3-08EC-F8B4-5585-D9A97B6E2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75" y="3216931"/>
            <a:ext cx="5598738" cy="358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53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F4C34F-FF2A-871E-2556-85660316A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5623052" cy="1026668"/>
          </a:xfrm>
        </p:spPr>
        <p:txBody>
          <a:bodyPr/>
          <a:lstStyle/>
          <a:p>
            <a:r>
              <a:rPr lang="ru-RU" dirty="0" err="1"/>
              <a:t>Хитровка</a:t>
            </a:r>
            <a:r>
              <a:rPr lang="ru-RU" dirty="0"/>
              <a:t>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FE33E5F-8DA9-B2E0-C0E8-F47F1B6E6B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408" y="952500"/>
            <a:ext cx="4202844" cy="405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74F92AFA-E797-12A5-1EA1-C7BDBE8EEF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5E44BE9E-6164-804B-005A-12DD365804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9200" y="3429000"/>
            <a:ext cx="3911600" cy="391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753390-8646-4D02-3501-8B6950201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644900"/>
            <a:ext cx="5080000" cy="321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451593-55E8-A6A4-E64D-63A51B937063}"/>
              </a:ext>
            </a:extLst>
          </p:cNvPr>
          <p:cNvSpPr txBox="1"/>
          <p:nvPr/>
        </p:nvSpPr>
        <p:spPr>
          <a:xfrm>
            <a:off x="596900" y="1563469"/>
            <a:ext cx="60960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Хитровская площадь — площадь на территории Белого города (урочище Кулишки).Ограничена  по 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Подколокольному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переулку, между 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Подколокольным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 Певческим, Петропавловским и    Хитровским. находится на месте одного из древнейших поселений вятичей — 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Подкопаево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являющемся памятником археологии.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Подколокольном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переулке в </a:t>
            </a:r>
            <a:r>
              <a:rPr lang="en" sz="1600" dirty="0">
                <a:latin typeface="Calibri" panose="020F0502020204030204" pitchFamily="34" charset="0"/>
                <a:cs typeface="Calibri" panose="020F0502020204030204" pitchFamily="34" charset="0"/>
              </a:rPr>
              <a:t>XVII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веке находилось Певческое подворье Крутицкого Митрополита.</a:t>
            </a:r>
          </a:p>
          <a:p>
            <a:endParaRPr lang="ru-RU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9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AEBF5-3C25-E0AD-B6BE-50ED2C47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Белый – город</a:t>
            </a:r>
            <a:br>
              <a:rPr lang="ru-RU" dirty="0"/>
            </a:br>
            <a:r>
              <a:rPr lang="ru-RU" sz="1400" dirty="0"/>
              <a:t>слободы таганки за границами белого города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A72F45-F449-C186-D9BD-5B113472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Кошельная слобода</a:t>
            </a:r>
          </a:p>
          <a:p>
            <a:r>
              <a:rPr lang="ru-RU" dirty="0"/>
              <a:t>Серебряная слобода</a:t>
            </a:r>
          </a:p>
          <a:p>
            <a:r>
              <a:rPr lang="ru-RU" dirty="0"/>
              <a:t>Котельная и кузнецкая слободы</a:t>
            </a:r>
          </a:p>
          <a:p>
            <a:r>
              <a:rPr lang="ru-RU" dirty="0"/>
              <a:t>Гончарная слобода</a:t>
            </a:r>
          </a:p>
          <a:p>
            <a:r>
              <a:rPr lang="ru-RU" dirty="0"/>
              <a:t>Таганная слобода и </a:t>
            </a:r>
            <a:r>
              <a:rPr lang="ru-RU" dirty="0" err="1"/>
              <a:t>Болвановка</a:t>
            </a:r>
            <a:endParaRPr lang="ru-RU" dirty="0"/>
          </a:p>
          <a:p>
            <a:r>
              <a:rPr lang="ru-RU" dirty="0"/>
              <a:t>Стрелецкая слобода и Воронцово</a:t>
            </a:r>
          </a:p>
          <a:p>
            <a:r>
              <a:rPr lang="ru-RU" dirty="0"/>
              <a:t>Иноземная слобода</a:t>
            </a:r>
          </a:p>
          <a:p>
            <a:r>
              <a:rPr lang="ru-RU" dirty="0"/>
              <a:t>Семеновская слобода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645D74F-7742-EAFA-988A-0DFD20083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107" y="209550"/>
            <a:ext cx="5657656" cy="59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353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DB9235-9B1B-31BE-889C-DBEF2589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33E894-5340-E079-16F7-95660E345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740" y="484632"/>
            <a:ext cx="5080000" cy="33147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5E0C9B6-710E-6F36-847E-98778F85B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03841"/>
            <a:ext cx="4680712" cy="3520367"/>
          </a:xfrm>
          <a:prstGeom prst="rect">
            <a:avLst/>
          </a:prstGeom>
        </p:spPr>
      </p:pic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032A802A-5C82-B3AB-999A-00A0CB9E7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288" y="2486025"/>
            <a:ext cx="3705225" cy="3705225"/>
          </a:xfrm>
        </p:spPr>
      </p:pic>
    </p:spTree>
    <p:extLst>
      <p:ext uri="{BB962C8B-B14F-4D97-AF65-F5344CB8AC3E}">
        <p14:creationId xmlns:p14="http://schemas.microsoft.com/office/powerpoint/2010/main" val="966506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FC6EF-7517-D02B-25AC-8B826DD6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1C09E9-A88A-DC0E-3F65-88D9E9F06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465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AAA018-ECC7-5C7E-BAEA-26E6CE89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Земляной город</a:t>
            </a:r>
            <a:br>
              <a:rPr lang="ru-RU" dirty="0"/>
            </a:br>
            <a:r>
              <a:rPr lang="ru-RU" sz="1400" dirty="0"/>
              <a:t>слободы таганки за границами земляного</a:t>
            </a:r>
            <a:br>
              <a:rPr lang="ru-RU" sz="1400" dirty="0"/>
            </a:br>
            <a:r>
              <a:rPr lang="ru-RU" sz="1400" dirty="0"/>
              <a:t> города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E20BEC-D205-CDA5-4878-56460A97A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3902202" cy="4050792"/>
          </a:xfrm>
        </p:spPr>
        <p:txBody>
          <a:bodyPr/>
          <a:lstStyle/>
          <a:p>
            <a:r>
              <a:rPr lang="ru-RU" dirty="0"/>
              <a:t>Алексеевская слобода</a:t>
            </a:r>
          </a:p>
          <a:p>
            <a:r>
              <a:rPr lang="ru-RU" dirty="0" err="1"/>
              <a:t>Воронцовская</a:t>
            </a:r>
            <a:r>
              <a:rPr lang="ru-RU" dirty="0"/>
              <a:t> слобода</a:t>
            </a:r>
          </a:p>
          <a:p>
            <a:r>
              <a:rPr lang="ru-RU" dirty="0"/>
              <a:t>Рогожская слобода</a:t>
            </a:r>
          </a:p>
          <a:p>
            <a:r>
              <a:rPr lang="ru-RU" dirty="0"/>
              <a:t>Каменная слобода</a:t>
            </a:r>
          </a:p>
          <a:p>
            <a:r>
              <a:rPr lang="ru-RU" dirty="0"/>
              <a:t>Семеновская слобода </a:t>
            </a:r>
          </a:p>
          <a:p>
            <a:r>
              <a:rPr lang="ru-RU" dirty="0"/>
              <a:t>Сыромятная слобода </a:t>
            </a:r>
          </a:p>
          <a:p>
            <a:r>
              <a:rPr lang="ru-RU" dirty="0" err="1"/>
              <a:t>Крутицкое</a:t>
            </a:r>
            <a:r>
              <a:rPr lang="ru-RU" dirty="0"/>
              <a:t> подворье </a:t>
            </a:r>
          </a:p>
          <a:p>
            <a:r>
              <a:rPr lang="ru-RU" dirty="0" err="1"/>
              <a:t>Арбатецкая</a:t>
            </a:r>
            <a:r>
              <a:rPr lang="ru-RU" dirty="0"/>
              <a:t> слобода</a:t>
            </a:r>
          </a:p>
        </p:txBody>
      </p:sp>
      <p:pic>
        <p:nvPicPr>
          <p:cNvPr id="5122" name="Picture 2" descr="Камер-Коллежский вал — Википедия">
            <a:extLst>
              <a:ext uri="{FF2B5EF4-FFF2-40B4-BE49-F238E27FC236}">
                <a16:creationId xmlns:a16="http://schemas.microsoft.com/office/drawing/2014/main" id="{2143CB5A-7D72-9E90-2671-CAF6E98CD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299" y="1363218"/>
            <a:ext cx="6389101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010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26AD9-5BAF-115F-848C-56180726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53577"/>
          </a:xfrm>
        </p:spPr>
        <p:txBody>
          <a:bodyPr>
            <a:normAutofit/>
          </a:bodyPr>
          <a:lstStyle/>
          <a:p>
            <a:r>
              <a:rPr lang="ru-RU" sz="4400" dirty="0"/>
              <a:t>Церкви как центр жизни слобод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9517C72-DDF5-1A30-257F-ACA4EF028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52" y="2055876"/>
            <a:ext cx="3458954" cy="405130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356881-40BE-F1B4-DEFE-107F5A9C8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060" y="1822051"/>
            <a:ext cx="3245140" cy="42996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3E0ED7-AEB3-6481-3687-8A2E3C7ED407}"/>
              </a:ext>
            </a:extLst>
          </p:cNvPr>
          <p:cNvSpPr txBox="1"/>
          <p:nvPr/>
        </p:nvSpPr>
        <p:spPr>
          <a:xfrm>
            <a:off x="1063752" y="5737844"/>
            <a:ext cx="3458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Храм святителя Николая на </a:t>
            </a:r>
            <a:r>
              <a:rPr lang="ru-RU" dirty="0" err="1"/>
              <a:t>Болвановке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E1FC8-84D9-DAF3-FF81-D2F04FD7D477}"/>
              </a:ext>
            </a:extLst>
          </p:cNvPr>
          <p:cNvSpPr txBox="1"/>
          <p:nvPr/>
        </p:nvSpPr>
        <p:spPr>
          <a:xfrm>
            <a:off x="8515060" y="5752354"/>
            <a:ext cx="290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Храм Святителя Алексия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48C989-8E60-A4C1-6026-A4B949FDEB2A}"/>
              </a:ext>
            </a:extLst>
          </p:cNvPr>
          <p:cNvSpPr txBox="1"/>
          <p:nvPr/>
        </p:nvSpPr>
        <p:spPr>
          <a:xfrm>
            <a:off x="4916406" y="2551837"/>
            <a:ext cx="34589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Церковь — важный социальный институт, деятельность которого находит отражение во многих сферах жизни средневекового общества. Тут регистрируют любые изменения жизни людей – рождение, </a:t>
            </a:r>
            <a:r>
              <a:rPr lang="ru-RU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крещение,браки</a:t>
            </a:r>
            <a:r>
              <a:rPr lang="ru-RU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, переезды, исповеди, кончины.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415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69242-257B-8256-B25E-FD79921B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7883652" cy="995426"/>
          </a:xfrm>
        </p:spPr>
        <p:txBody>
          <a:bodyPr/>
          <a:lstStyle/>
          <a:p>
            <a:r>
              <a:rPr lang="ru-RU" dirty="0" err="1"/>
              <a:t>Крутицкое</a:t>
            </a:r>
            <a:r>
              <a:rPr lang="ru-RU" dirty="0"/>
              <a:t> подворье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A55555-DE5D-72B6-0381-1FF6CCF2F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254752" cy="4050792"/>
          </a:xfrm>
        </p:spPr>
        <p:txBody>
          <a:bodyPr>
            <a:normAutofit/>
          </a:bodyPr>
          <a:lstStyle/>
          <a:p>
            <a:r>
              <a:rPr lang="ru-RU" sz="1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u-RU" sz="1600" b="0" i="0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1262 году в </a:t>
            </a:r>
            <a:r>
              <a:rPr lang="ru-RU" sz="1600" b="0" i="0" u="none" strike="noStrike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Крутицах</a:t>
            </a:r>
            <a:r>
              <a:rPr lang="ru-RU" sz="1600" b="0" i="0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был основан мужской монастырь, возведённый в честь святых Петра и </a:t>
            </a:r>
            <a:r>
              <a:rPr lang="ru-RU" sz="1600" dirty="0">
                <a:solidFill>
                  <a:srgbClr val="0B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Павла</a:t>
            </a:r>
            <a:r>
              <a:rPr lang="ru-RU" sz="1600" b="0" i="0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1600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</a:t>
            </a:r>
            <a:r>
              <a:rPr lang="ru-RU" sz="1600" b="0" i="0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каз о создании монастыря был издан князем </a:t>
            </a:r>
            <a:r>
              <a:rPr lang="ru-RU" sz="1600" dirty="0">
                <a:solidFill>
                  <a:srgbClr val="0B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Даниилом Московским</a:t>
            </a:r>
            <a:r>
              <a:rPr lang="ru-RU" sz="1600" b="0" i="0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 В течение </a:t>
            </a:r>
            <a:r>
              <a:rPr lang="en" sz="1600" b="0" i="0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XIV—XV </a:t>
            </a:r>
            <a:r>
              <a:rPr lang="ru-RU" sz="1600" b="0" i="0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веков </a:t>
            </a:r>
            <a:r>
              <a:rPr lang="ru-RU" sz="1600" b="0" i="0" u="none" strike="noStrike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Крутицкое</a:t>
            </a:r>
            <a:r>
              <a:rPr lang="ru-RU" sz="1600" b="0" i="0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подворье продолжали финансировать великие князья.</a:t>
            </a: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бывшая резиденция епископов 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Сарских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Подонских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образованная в </a:t>
            </a:r>
            <a:r>
              <a:rPr lang="en" sz="1600" dirty="0">
                <a:latin typeface="Calibri" panose="020F0502020204030204" pitchFamily="34" charset="0"/>
                <a:cs typeface="Calibri" panose="020F0502020204030204" pitchFamily="34" charset="0"/>
              </a:rPr>
              <a:t>XIII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веке в качестве монастыря. Название подворья происходит от слова «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крутицы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», обозначающего возвышенные левые берега Москвы ниже устья реки Яузы. В 1991 году вошло в состав Русской православной церкви как подворье Патриарха Московского и всея Руси. </a:t>
            </a:r>
          </a:p>
          <a:p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Арбатец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 — бывшая митрополичья слобода в Москве. Исчезла к середине </a:t>
            </a:r>
            <a:r>
              <a:rPr lang="en" sz="1600" dirty="0">
                <a:latin typeface="Calibri" panose="020F0502020204030204" pitchFamily="34" charset="0"/>
                <a:cs typeface="Calibri" panose="020F0502020204030204" pitchFamily="34" charset="0"/>
              </a:rPr>
              <a:t>XVIII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века. Предположительно, название местности произошло от арабского слова «рабад», что означает пригород, предместье.</a:t>
            </a:r>
          </a:p>
          <a:p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C9322D-9A70-4479-958E-82FCCE70B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152" y="1327150"/>
            <a:ext cx="31750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85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A1673-F9EA-E502-3CBE-A3FF0534A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6C4A43-DBFA-2806-7D86-AC89EAC22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064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5059D-23D6-1DB9-087E-C01F1DC09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камер-коллежский вал</a:t>
            </a:r>
            <a:br>
              <a:rPr lang="ru-RU" dirty="0"/>
            </a:br>
            <a:r>
              <a:rPr lang="ru-RU" sz="1400" dirty="0"/>
              <a:t>слободы таганки за границей камер-коллежского</a:t>
            </a:r>
            <a:br>
              <a:rPr lang="ru-RU" sz="1400" dirty="0"/>
            </a:br>
            <a:r>
              <a:rPr lang="ru-RU" sz="1400" dirty="0"/>
              <a:t> вала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6439FB-FE55-9D12-0A52-665A52468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74800"/>
            <a:ext cx="4549902" cy="2907644"/>
          </a:xfrm>
        </p:spPr>
        <p:txBody>
          <a:bodyPr/>
          <a:lstStyle/>
          <a:p>
            <a:r>
              <a:rPr lang="ru-RU" dirty="0"/>
              <a:t>Калитниковская (Александровская) слобода</a:t>
            </a:r>
          </a:p>
          <a:p>
            <a:r>
              <a:rPr lang="ru-RU" dirty="0"/>
              <a:t>Новая деревня</a:t>
            </a:r>
            <a:endParaRPr lang="en-US" dirty="0"/>
          </a:p>
          <a:p>
            <a:r>
              <a:rPr lang="ru-RU" dirty="0"/>
              <a:t>Рогожская ямская слобода</a:t>
            </a:r>
          </a:p>
          <a:p>
            <a:r>
              <a:rPr lang="ru-RU" dirty="0"/>
              <a:t>Нижегородский вокзал </a:t>
            </a:r>
          </a:p>
          <a:p>
            <a:r>
              <a:rPr lang="ru-RU" dirty="0"/>
              <a:t>Московские бойни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4077B65-7922-C375-37A3-6F3E51D34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87" y="1229868"/>
            <a:ext cx="5761478" cy="4942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F8FCE8-14DF-466D-0B5D-B153FC64F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146804"/>
            <a:ext cx="3609848" cy="236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17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06CC3-2A51-3EAD-B53F-4B354211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0" y="484632"/>
            <a:ext cx="5794248" cy="1026668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нижегородский вокзал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93B96A4-F6C3-B8AE-299C-2AD915590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71" y="157226"/>
            <a:ext cx="4801929" cy="356149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3AD5B6-8F29-35D3-80B1-333E15C4BCD4}"/>
              </a:ext>
            </a:extLst>
          </p:cNvPr>
          <p:cNvSpPr txBox="1"/>
          <p:nvPr/>
        </p:nvSpPr>
        <p:spPr>
          <a:xfrm>
            <a:off x="5499100" y="1651000"/>
            <a:ext cx="579424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 1861 году за Покровской заставой открывается Нижегородский вокзал, второй после в Москве после Николаевского (Петербургского).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В 1866 открывают Курский вокзал, чтобы обеспечить возрастающие потребности в перевозках.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В 1896 году Нижегородский вокзал объединяют с Курским и размещают его в новом  строящемся здании Курского вокзала, так он получает название Курско-Нижегородский и обслуживает два направления. После 1935 года он будет называться Курским.  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Старая станция (в советское время известная как Москва-Товарная-Горьковская) стала использоваться для обслуживания грузовых перевозок. Здания станции и линия до неё были ликвидированы в 1950-х годах.</a:t>
            </a:r>
          </a:p>
        </p:txBody>
      </p:sp>
    </p:spTree>
    <p:extLst>
      <p:ext uri="{BB962C8B-B14F-4D97-AF65-F5344CB8AC3E}">
        <p14:creationId xmlns:p14="http://schemas.microsoft.com/office/powerpoint/2010/main" val="3269781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5F38E-3E7D-C829-E9EE-FBE50227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КАЛИТНИКИ</a:t>
            </a:r>
            <a:br>
              <a:rPr lang="ru-RU" dirty="0"/>
            </a:br>
            <a:r>
              <a:rPr lang="ru-RU" dirty="0"/>
              <a:t>МОСКОВСКИЕ БОЙНИ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6483B9-3CAB-6D87-ACDF-C7C0A33C2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48" y="1994408"/>
            <a:ext cx="5330952" cy="4660392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Calibri" panose="020F0502020204030204" pitchFamily="34" charset="0"/>
                <a:cs typeface="Calibri" panose="020F0502020204030204" pitchFamily="34" charset="0"/>
              </a:rPr>
              <a:t>Слобода получила название в 1688 в честь речки </a:t>
            </a:r>
            <a:r>
              <a:rPr lang="ru-RU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Калитенки</a:t>
            </a:r>
            <a:r>
              <a:rPr lang="ru-RU" sz="1800" dirty="0">
                <a:latin typeface="Calibri" panose="020F0502020204030204" pitchFamily="34" charset="0"/>
                <a:cs typeface="Calibri" panose="020F0502020204030204" pitchFamily="34" charset="0"/>
              </a:rPr>
              <a:t>. Предполагается, что в </a:t>
            </a:r>
            <a:r>
              <a:rPr lang="ru-RU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Калитниках</a:t>
            </a:r>
            <a:r>
              <a:rPr lang="ru-RU" sz="1800" dirty="0">
                <a:latin typeface="Calibri" panose="020F0502020204030204" pitchFamily="34" charset="0"/>
                <a:cs typeface="Calibri" panose="020F0502020204030204" pitchFamily="34" charset="0"/>
              </a:rPr>
              <a:t> жили «</a:t>
            </a:r>
            <a:r>
              <a:rPr lang="ru-RU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калитники</a:t>
            </a:r>
            <a:r>
              <a:rPr lang="ru-RU" sz="1800" dirty="0">
                <a:latin typeface="Calibri" panose="020F0502020204030204" pitchFamily="34" charset="0"/>
                <a:cs typeface="Calibri" panose="020F0502020204030204" pitchFamily="34" charset="0"/>
              </a:rPr>
              <a:t>» — мастера, делавшие кожаные сумки и кошели (калиты), подобно местностям Кожевники и Сыромятники. </a:t>
            </a:r>
          </a:p>
          <a:p>
            <a:r>
              <a:rPr lang="ru-RU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Калитниковское</a:t>
            </a:r>
            <a:r>
              <a:rPr lang="ru-RU" sz="1800" dirty="0">
                <a:latin typeface="Calibri" panose="020F0502020204030204" pitchFamily="34" charset="0"/>
                <a:cs typeface="Calibri" panose="020F0502020204030204" pitchFamily="34" charset="0"/>
              </a:rPr>
              <a:t> кладбище - одно из сохранившихся московских «чумных» кладбищ с 1771 года. </a:t>
            </a:r>
          </a:p>
          <a:p>
            <a:r>
              <a:rPr lang="ru-RU" sz="1800" dirty="0">
                <a:latin typeface="Calibri" panose="020F0502020204030204" pitchFamily="34" charset="0"/>
                <a:cs typeface="Calibri" panose="020F0502020204030204" pitchFamily="34" charset="0"/>
              </a:rPr>
              <a:t>К 1805 году бойни стояли по обе стороны Большой Коломенской дороги, шедшей от Покровской заставы на юго-восток (прежде эти пустынные земли были заняты выгоном). Земля под бойнями у </a:t>
            </a:r>
            <a:r>
              <a:rPr lang="ru-RU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Калитниковского</a:t>
            </a:r>
            <a:r>
              <a:rPr lang="ru-RU" sz="1800" dirty="0">
                <a:latin typeface="Calibri" panose="020F0502020204030204" pitchFamily="34" charset="0"/>
                <a:cs typeface="Calibri" panose="020F0502020204030204" pitchFamily="34" charset="0"/>
              </a:rPr>
              <a:t> кладбища принадлежала купцу Кузьме Лаврентьеву.</a:t>
            </a:r>
          </a:p>
          <a:p>
            <a:endParaRPr lang="ru-RU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6E0AEF-51B0-85F4-6001-F44B09D3C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948" y="2823159"/>
            <a:ext cx="5877052" cy="322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30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F017F0-4120-18F9-B5E1-A0C73191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1143000"/>
            <a:ext cx="9578848" cy="950976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библио</a:t>
            </a:r>
            <a:r>
              <a:rPr lang="ru-RU" dirty="0"/>
              <a:t>-ночь</a:t>
            </a:r>
            <a:br>
              <a:rPr lang="ru-RU" dirty="0"/>
            </a:br>
            <a:r>
              <a:rPr lang="ru-RU" dirty="0"/>
              <a:t>провела с вами экскурсовод, </a:t>
            </a:r>
            <a:r>
              <a:rPr lang="ru-RU" dirty="0" err="1"/>
              <a:t>москововед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 err="1"/>
              <a:t>Акинян</a:t>
            </a:r>
            <a:r>
              <a:rPr lang="ru-RU" dirty="0"/>
              <a:t> </a:t>
            </a:r>
            <a:r>
              <a:rPr lang="ru-RU" dirty="0" err="1"/>
              <a:t>наталья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ADB6B0-FB40-BEA5-8C94-E30256F3B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3429000"/>
            <a:ext cx="10058400" cy="274320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657713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1567</TotalTime>
  <Words>1094</Words>
  <Application>Microsoft Macintosh PowerPoint</Application>
  <PresentationFormat>Широкоэкранный</PresentationFormat>
  <Paragraphs>93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0" baseType="lpstr">
      <vt:lpstr>Arial</vt:lpstr>
      <vt:lpstr>Calibri</vt:lpstr>
      <vt:lpstr>Cambria</vt:lpstr>
      <vt:lpstr>DeepSeek-CJK-patch</vt:lpstr>
      <vt:lpstr>Google Sans</vt:lpstr>
      <vt:lpstr>Rockwell</vt:lpstr>
      <vt:lpstr>Rockwell Condensed</vt:lpstr>
      <vt:lpstr>Rockwell Extra Bold</vt:lpstr>
      <vt:lpstr>Wingdings</vt:lpstr>
      <vt:lpstr>Дерево</vt:lpstr>
      <vt:lpstr>Слободы таганки</vt:lpstr>
      <vt:lpstr>Презентация PowerPoint</vt:lpstr>
      <vt:lpstr>москва</vt:lpstr>
      <vt:lpstr>Слободы</vt:lpstr>
      <vt:lpstr>таганка</vt:lpstr>
      <vt:lpstr>Китай – город слободы Таганки за границами  китай города</vt:lpstr>
      <vt:lpstr>Воспитательный дом </vt:lpstr>
      <vt:lpstr>Варваринские всехсвятские ворота и Соляной двор</vt:lpstr>
      <vt:lpstr>Хитровка </vt:lpstr>
      <vt:lpstr>Белый – город слободы таганки за границами белого города</vt:lpstr>
      <vt:lpstr>Презентация PowerPoint</vt:lpstr>
      <vt:lpstr>Презентация PowerPoint</vt:lpstr>
      <vt:lpstr>Земляной город слободы таганки за границами земляного  города</vt:lpstr>
      <vt:lpstr>Церкви как центр жизни слобод</vt:lpstr>
      <vt:lpstr>Крутицкое подворье</vt:lpstr>
      <vt:lpstr>Презентация PowerPoint</vt:lpstr>
      <vt:lpstr>камер-коллежский вал слободы таганки за границей камер-коллежского  вала </vt:lpstr>
      <vt:lpstr>нижегородский вокзал</vt:lpstr>
      <vt:lpstr>КАЛИТНИКИ МОСКОВСКИЕ БОЙНИ</vt:lpstr>
      <vt:lpstr>библио-ночь провела с вами экскурсовод, москововед  Акинян наталья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Слободы таганки</dc:title>
  <dc:creator>Artur Arustamov</dc:creator>
  <cp:lastModifiedBy>Artur Arustamov</cp:lastModifiedBy>
  <cp:revision>20</cp:revision>
  <dcterms:created xsi:type="dcterms:W3CDTF">2025-04-24T17:34:44Z</dcterms:created>
  <dcterms:modified xsi:type="dcterms:W3CDTF">2026-02-21T14:38:39Z</dcterms:modified>
</cp:coreProperties>
</file>